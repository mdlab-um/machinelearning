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Old Standard TT"/>
      <p:regular r:id="rId10"/>
      <p:bold r:id="rId11"/>
      <p: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OldStandardTT-bold.fntdata"/><Relationship Id="rId10" Type="http://schemas.openxmlformats.org/officeDocument/2006/relationships/font" Target="fonts/OldStandardTT-regular.fntdata"/><Relationship Id="rId12" Type="http://schemas.openxmlformats.org/officeDocument/2006/relationships/font" Target="fonts/OldStandardTT-italic.fnt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68a4275011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68a4275011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68a4275011_2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68a4275011_2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133a5c33a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133a5c33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133a5c33a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133a5c33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2.png"/><Relationship Id="rId7" Type="http://schemas.openxmlformats.org/officeDocument/2006/relationships/image" Target="../media/image14.png"/><Relationship Id="rId8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/>
        </p:nvSpPr>
        <p:spPr>
          <a:xfrm>
            <a:off x="106200" y="513024"/>
            <a:ext cx="5273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Find right amount of complexity.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291600" y="86180"/>
            <a:ext cx="859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How to optimize dial? 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61" name="Google Shape;6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3862" y="86175"/>
            <a:ext cx="2968400" cy="145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1313" y="1637004"/>
            <a:ext cx="4273488" cy="11853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3"/>
          <p:cNvSpPr txBox="1"/>
          <p:nvPr/>
        </p:nvSpPr>
        <p:spPr>
          <a:xfrm>
            <a:off x="106200" y="871431"/>
            <a:ext cx="52731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Validation error </a:t>
            </a:r>
            <a:br>
              <a:rPr lang="en" sz="1300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→ Validation set (randomly divide the dataset)</a:t>
            </a:r>
            <a:br>
              <a:rPr lang="en" sz="1300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→ 1/10 to </a:t>
            </a:r>
            <a:r>
              <a:rPr lang="en" sz="1300">
                <a:solidFill>
                  <a:schemeClr val="dk1"/>
                </a:solidFill>
              </a:rPr>
              <a:t>1/3</a:t>
            </a:r>
            <a:r>
              <a:rPr lang="en" sz="1300">
                <a:solidFill>
                  <a:schemeClr val="dk1"/>
                </a:solidFill>
              </a:rPr>
              <a:t> of data.</a:t>
            </a:r>
            <a:br>
              <a:rPr lang="en" sz="1300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→ best model with lower validation error.</a:t>
            </a:r>
            <a:br>
              <a:rPr lang="en" sz="1300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→ Cross-validation (or model search/selection)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106200" y="2872850"/>
            <a:ext cx="59265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Naive cross-validation:</a:t>
            </a:r>
            <a:br>
              <a:rPr lang="en" sz="1300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→ split data randomly</a:t>
            </a:r>
            <a:br>
              <a:rPr lang="en" sz="1300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→ optimize every model completion</a:t>
            </a:r>
            <a:br>
              <a:rPr lang="en" sz="1300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→ measure error on M fully trained models on each portion of the data</a:t>
            </a:r>
            <a:br>
              <a:rPr lang="en" sz="1300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→ Final model based on lowest validation. 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182700" y="4177000"/>
            <a:ext cx="5823600" cy="9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Computationally very expensive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Coarse model search that can miss (or ”skip over”) the ideal amount of complexity desired for a given dataset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3532975" y="2778330"/>
            <a:ext cx="5082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5000">
                <a:solidFill>
                  <a:srgbClr val="FF0000"/>
                </a:solidFill>
              </a:rPr>
              <a:t>?</a:t>
            </a:r>
            <a:endParaRPr sz="5000">
              <a:solidFill>
                <a:srgbClr val="FF0000"/>
              </a:solidFill>
            </a:endParaRPr>
          </a:p>
        </p:txBody>
      </p:sp>
      <p:pic>
        <p:nvPicPr>
          <p:cNvPr id="67" name="Google Shape;67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3915" y="1993324"/>
            <a:ext cx="3386042" cy="95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3"/>
          <p:cNvPicPr preferRelativeResize="0"/>
          <p:nvPr/>
        </p:nvPicPr>
        <p:blipFill rotWithShape="1">
          <a:blip r:embed="rId6">
            <a:alphaModFix/>
          </a:blip>
          <a:srcRect b="50782" l="21251" r="17326" t="0"/>
          <a:stretch/>
        </p:blipFill>
        <p:spPr>
          <a:xfrm>
            <a:off x="5915850" y="2922100"/>
            <a:ext cx="1664425" cy="913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3"/>
          <p:cNvPicPr preferRelativeResize="0"/>
          <p:nvPr/>
        </p:nvPicPr>
        <p:blipFill rotWithShape="1">
          <a:blip r:embed="rId6">
            <a:alphaModFix/>
          </a:blip>
          <a:srcRect b="0" l="0" r="36032" t="51639"/>
          <a:stretch/>
        </p:blipFill>
        <p:spPr>
          <a:xfrm>
            <a:off x="7543465" y="2872850"/>
            <a:ext cx="1565834" cy="81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3"/>
          <p:cNvPicPr preferRelativeResize="0"/>
          <p:nvPr/>
        </p:nvPicPr>
        <p:blipFill rotWithShape="1">
          <a:blip r:embed="rId6">
            <a:alphaModFix/>
          </a:blip>
          <a:srcRect b="0" l="67877" r="0" t="67269"/>
          <a:stretch/>
        </p:blipFill>
        <p:spPr>
          <a:xfrm>
            <a:off x="7671888" y="3911425"/>
            <a:ext cx="1308991" cy="913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" name="Google Shape;71;p13"/>
          <p:cNvGrpSpPr/>
          <p:nvPr/>
        </p:nvGrpSpPr>
        <p:grpSpPr>
          <a:xfrm>
            <a:off x="4744075" y="3575125"/>
            <a:ext cx="2836200" cy="982800"/>
            <a:chOff x="4744075" y="3575125"/>
            <a:chExt cx="2836200" cy="982800"/>
          </a:xfrm>
        </p:grpSpPr>
        <p:sp>
          <p:nvSpPr>
            <p:cNvPr id="72" name="Google Shape;72;p13"/>
            <p:cNvSpPr txBox="1"/>
            <p:nvPr/>
          </p:nvSpPr>
          <p:spPr>
            <a:xfrm>
              <a:off x="4744075" y="3911425"/>
              <a:ext cx="28362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</a:rPr>
                <a:t>Bias-variance tradeoff:</a:t>
              </a:r>
              <a:br>
                <a:rPr lang="en" sz="1000">
                  <a:solidFill>
                    <a:schemeClr val="dk1"/>
                  </a:solidFill>
                </a:rPr>
              </a:br>
              <a:r>
                <a:rPr lang="en" sz="1000">
                  <a:solidFill>
                    <a:schemeClr val="dk1"/>
                  </a:solidFill>
                </a:rPr>
                <a:t>Determining a model which neither underfits(high bias) nor overfits (high variance)</a:t>
              </a:r>
              <a:endParaRPr sz="1000">
                <a:solidFill>
                  <a:schemeClr val="dk1"/>
                </a:solidFill>
              </a:endParaRPr>
            </a:p>
          </p:txBody>
        </p:sp>
        <p:cxnSp>
          <p:nvCxnSpPr>
            <p:cNvPr id="73" name="Google Shape;73;p13"/>
            <p:cNvCxnSpPr>
              <a:stCxn id="72" idx="0"/>
            </p:cNvCxnSpPr>
            <p:nvPr/>
          </p:nvCxnSpPr>
          <p:spPr>
            <a:xfrm flipH="1" rot="10800000">
              <a:off x="6162175" y="3575125"/>
              <a:ext cx="285300" cy="336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78;p14"/>
          <p:cNvGrpSpPr/>
          <p:nvPr/>
        </p:nvGrpSpPr>
        <p:grpSpPr>
          <a:xfrm>
            <a:off x="106200" y="1910153"/>
            <a:ext cx="8973000" cy="3124500"/>
            <a:chOff x="106200" y="2270678"/>
            <a:chExt cx="8973000" cy="3124500"/>
          </a:xfrm>
        </p:grpSpPr>
        <p:sp>
          <p:nvSpPr>
            <p:cNvPr id="79" name="Google Shape;79;p14"/>
            <p:cNvSpPr txBox="1"/>
            <p:nvPr/>
          </p:nvSpPr>
          <p:spPr>
            <a:xfrm>
              <a:off x="106200" y="2270678"/>
              <a:ext cx="8973000" cy="312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-311150" lvl="0" marL="45720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Char char="●"/>
              </a:pPr>
              <a:r>
                <a:rPr lang="en" sz="1300">
                  <a:solidFill>
                    <a:schemeClr val="dk1"/>
                  </a:solidFill>
                </a:rPr>
                <a:t>Round 0 of boosting:</a:t>
              </a:r>
              <a:br>
                <a:rPr lang="en" sz="1300">
                  <a:solidFill>
                    <a:schemeClr val="dk1"/>
                  </a:solidFill>
                </a:rPr>
              </a:br>
              <a:r>
                <a:rPr lang="en" sz="1300">
                  <a:solidFill>
                    <a:schemeClr val="dk1"/>
                  </a:solidFill>
                </a:rPr>
                <a:t>→ T</a:t>
              </a:r>
              <a:r>
                <a:rPr lang="en" sz="1300">
                  <a:solidFill>
                    <a:schemeClr val="dk1"/>
                  </a:solidFill>
                </a:rPr>
                <a:t>uning			     , by minimizing the cost function.</a:t>
              </a:r>
              <a:r>
                <a:rPr lang="en" sz="1300">
                  <a:solidFill>
                    <a:schemeClr val="dk1"/>
                  </a:solidFill>
                </a:rPr>
                <a:t> </a:t>
              </a:r>
              <a:endParaRPr sz="1300">
                <a:solidFill>
                  <a:schemeClr val="dk1"/>
                </a:solidFill>
              </a:endParaRPr>
            </a:p>
            <a:p>
              <a:pPr indent="-311150" lvl="0" marL="457200" rtl="0" algn="l">
                <a:lnSpc>
                  <a:spcPct val="10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Char char="●"/>
              </a:pPr>
              <a:r>
                <a:rPr lang="en" sz="1300">
                  <a:solidFill>
                    <a:schemeClr val="dk1"/>
                  </a:solidFill>
                </a:rPr>
                <a:t> Round 1 of boosting:</a:t>
              </a:r>
              <a:br>
                <a:rPr lang="en" sz="1300">
                  <a:solidFill>
                    <a:schemeClr val="dk1"/>
                  </a:solidFill>
                </a:rPr>
              </a:br>
              <a:r>
                <a:rPr lang="en" sz="1300">
                  <a:solidFill>
                    <a:schemeClr val="dk1"/>
                  </a:solidFill>
                </a:rPr>
                <a:t>→ </a:t>
              </a:r>
              <a:br>
                <a:rPr lang="en" sz="1300">
                  <a:solidFill>
                    <a:schemeClr val="dk1"/>
                  </a:solidFill>
                </a:rPr>
              </a:br>
              <a:r>
                <a:rPr lang="en" sz="1300">
                  <a:solidFill>
                    <a:schemeClr val="dk1"/>
                  </a:solidFill>
                </a:rPr>
                <a:t>→ Only need tune the weight </a:t>
              </a:r>
              <a:r>
                <a:rPr i="1" lang="en" sz="1300">
                  <a:solidFill>
                    <a:schemeClr val="dk1"/>
                  </a:solidFill>
                </a:rPr>
                <a:t>w</a:t>
              </a:r>
              <a:r>
                <a:rPr baseline="-25000" i="1" lang="en" sz="1300">
                  <a:solidFill>
                    <a:schemeClr val="dk1"/>
                  </a:solidFill>
                </a:rPr>
                <a:t>1</a:t>
              </a:r>
              <a:r>
                <a:rPr lang="en" sz="1300">
                  <a:solidFill>
                    <a:schemeClr val="dk1"/>
                  </a:solidFill>
                </a:rPr>
                <a:t> as well as the parameters internal to the nonlinear unit </a:t>
              </a:r>
              <a:r>
                <a:rPr i="1" lang="en" sz="1300">
                  <a:solidFill>
                    <a:schemeClr val="dk1"/>
                  </a:solidFill>
                </a:rPr>
                <a:t>f</a:t>
              </a:r>
              <a:r>
                <a:rPr baseline="-25000" i="1" lang="en" sz="1300">
                  <a:solidFill>
                    <a:schemeClr val="dk1"/>
                  </a:solidFill>
                </a:rPr>
                <a:t>s1</a:t>
              </a:r>
              <a:r>
                <a:rPr lang="en" sz="1300">
                  <a:solidFill>
                    <a:schemeClr val="dk1"/>
                  </a:solidFill>
                </a:rPr>
                <a:t>.</a:t>
              </a:r>
              <a:endParaRPr sz="1300">
                <a:solidFill>
                  <a:schemeClr val="dk1"/>
                </a:solidFill>
              </a:endParaRPr>
            </a:p>
            <a:p>
              <a:pPr indent="-311150" lvl="0" marL="457200" rtl="0" algn="l">
                <a:lnSpc>
                  <a:spcPct val="10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Char char="●"/>
              </a:pPr>
              <a:r>
                <a:rPr lang="en" sz="1300">
                  <a:solidFill>
                    <a:schemeClr val="dk1"/>
                  </a:solidFill>
                </a:rPr>
                <a:t>Round </a:t>
              </a:r>
              <a:r>
                <a:rPr i="1" lang="en" sz="1300">
                  <a:solidFill>
                    <a:schemeClr val="dk1"/>
                  </a:solidFill>
                </a:rPr>
                <a:t>m</a:t>
              </a:r>
              <a:r>
                <a:rPr lang="en" sz="1300">
                  <a:solidFill>
                    <a:schemeClr val="dk1"/>
                  </a:solidFill>
                </a:rPr>
                <a:t> &gt; 1 of boosting:</a:t>
              </a:r>
              <a:br>
                <a:rPr lang="en" sz="1300">
                  <a:solidFill>
                    <a:schemeClr val="dk1"/>
                  </a:solidFill>
                </a:rPr>
              </a:br>
              <a:r>
                <a:rPr lang="en" sz="1300">
                  <a:solidFill>
                    <a:schemeClr val="dk1"/>
                  </a:solidFill>
                </a:rPr>
                <a:t>→ </a:t>
              </a:r>
              <a:br>
                <a:rPr lang="en" sz="1300">
                  <a:solidFill>
                    <a:schemeClr val="dk1"/>
                  </a:solidFill>
                </a:rPr>
              </a:br>
              <a:r>
                <a:rPr lang="en" sz="1300">
                  <a:solidFill>
                    <a:schemeClr val="dk1"/>
                  </a:solidFill>
                </a:rPr>
                <a:t>→ </a:t>
              </a:r>
              <a:r>
                <a:rPr i="1" lang="en" sz="1300">
                  <a:solidFill>
                    <a:schemeClr val="dk1"/>
                  </a:solidFill>
                </a:rPr>
                <a:t>m</a:t>
              </a:r>
              <a:r>
                <a:rPr baseline="30000" i="1" lang="en" sz="1300">
                  <a:solidFill>
                    <a:schemeClr val="dk1"/>
                  </a:solidFill>
                </a:rPr>
                <a:t>th</a:t>
              </a:r>
              <a:r>
                <a:rPr lang="en" sz="1300">
                  <a:solidFill>
                    <a:schemeClr val="dk1"/>
                  </a:solidFill>
                </a:rPr>
                <a:t> round of boosting:</a:t>
              </a:r>
              <a:endParaRPr sz="1300">
                <a:solidFill>
                  <a:schemeClr val="dk1"/>
                </a:solidFill>
              </a:endParaRPr>
            </a:p>
            <a:p>
              <a:pPr indent="-311150" lvl="0" marL="457200" rtl="0" algn="l">
                <a:lnSpc>
                  <a:spcPct val="10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Char char="●"/>
              </a:pPr>
              <a:r>
                <a:rPr i="1" lang="en" sz="1300">
                  <a:solidFill>
                    <a:schemeClr val="dk1"/>
                  </a:solidFill>
                </a:rPr>
                <a:t>M</a:t>
              </a:r>
              <a:r>
                <a:rPr lang="en" sz="1300">
                  <a:solidFill>
                    <a:schemeClr val="dk1"/>
                  </a:solidFill>
                </a:rPr>
                <a:t> tuned models (without 0) → choose the model with lowest validation loss.</a:t>
              </a:r>
              <a:endParaRPr sz="1300">
                <a:solidFill>
                  <a:schemeClr val="dk1"/>
                </a:solidFill>
              </a:endParaRPr>
            </a:p>
            <a:p>
              <a:pPr indent="-311150" lvl="0" marL="457200" rtl="0" algn="l">
                <a:lnSpc>
                  <a:spcPct val="10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Char char="●"/>
              </a:pPr>
              <a:r>
                <a:rPr lang="en" sz="1300">
                  <a:solidFill>
                    <a:schemeClr val="dk1"/>
                  </a:solidFill>
                </a:rPr>
                <a:t>Early stopping → halt the procedure when the validation error first starts to increase.</a:t>
              </a:r>
              <a:endParaRPr sz="1300">
                <a:solidFill>
                  <a:schemeClr val="dk1"/>
                </a:solidFill>
              </a:endParaRPr>
            </a:p>
            <a:p>
              <a:pPr indent="-311150" lvl="0" marL="457200" rtl="0" algn="l">
                <a:lnSpc>
                  <a:spcPct val="10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Char char="●"/>
              </a:pPr>
              <a:r>
                <a:rPr lang="en" sz="1300">
                  <a:solidFill>
                    <a:schemeClr val="dk1"/>
                  </a:solidFill>
                </a:rPr>
                <a:t>Add additional bias at </a:t>
              </a:r>
              <a:r>
                <a:rPr i="1" lang="en" sz="1300">
                  <a:solidFill>
                    <a:schemeClr val="dk1"/>
                  </a:solidFill>
                </a:rPr>
                <a:t>m</a:t>
              </a:r>
              <a:r>
                <a:rPr baseline="30000" i="1" lang="en" sz="1300">
                  <a:solidFill>
                    <a:schemeClr val="dk1"/>
                  </a:solidFill>
                </a:rPr>
                <a:t>th</a:t>
              </a:r>
              <a:r>
                <a:rPr lang="en" sz="1300">
                  <a:solidFill>
                    <a:schemeClr val="dk1"/>
                  </a:solidFill>
                </a:rPr>
                <a:t> round → offers more flexibility and better performance with one extra variable per round.</a:t>
              </a:r>
              <a:endParaRPr sz="1300">
                <a:solidFill>
                  <a:schemeClr val="dk1"/>
                </a:solidFill>
              </a:endParaRPr>
            </a:p>
            <a:p>
              <a:pPr indent="-311150" lvl="0" marL="457200" rtl="0" algn="l">
                <a:lnSpc>
                  <a:spcPct val="100000"/>
                </a:lnSpc>
                <a:spcBef>
                  <a:spcPts val="700"/>
                </a:spcBef>
                <a:spcAft>
                  <a:spcPts val="700"/>
                </a:spcAft>
                <a:buClr>
                  <a:schemeClr val="dk1"/>
                </a:buClr>
                <a:buSzPts val="1300"/>
                <a:buChar char="●"/>
              </a:pPr>
              <a:r>
                <a:rPr lang="en" sz="1300">
                  <a:solidFill>
                    <a:schemeClr val="dk1"/>
                  </a:solidFill>
                </a:rPr>
                <a:t>Performance by allowing units to be adjusted 'vertically' at each round.</a:t>
              </a:r>
              <a:endParaRPr sz="1300">
                <a:solidFill>
                  <a:schemeClr val="dk1"/>
                </a:solidFill>
              </a:endParaRPr>
            </a:p>
          </p:txBody>
        </p:sp>
        <p:pic>
          <p:nvPicPr>
            <p:cNvPr id="80" name="Google Shape;80;p14"/>
            <p:cNvPicPr preferRelativeResize="0"/>
            <p:nvPr/>
          </p:nvPicPr>
          <p:blipFill rotWithShape="1">
            <a:blip r:embed="rId3">
              <a:alphaModFix/>
            </a:blip>
            <a:srcRect b="0" l="0" r="-10" t="0"/>
            <a:stretch/>
          </p:blipFill>
          <p:spPr>
            <a:xfrm>
              <a:off x="1442105" y="2586299"/>
              <a:ext cx="1254950" cy="180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1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86875" y="3045080"/>
              <a:ext cx="2291751" cy="2291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" name="Google Shape;82;p1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50808" y="3717806"/>
              <a:ext cx="3844539" cy="2291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1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524107" y="3964996"/>
              <a:ext cx="2668734" cy="1806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4" name="Google Shape;84;p14"/>
          <p:cNvPicPr preferRelativeResize="0"/>
          <p:nvPr/>
        </p:nvPicPr>
        <p:blipFill rotWithShape="1">
          <a:blip r:embed="rId7">
            <a:alphaModFix/>
          </a:blip>
          <a:srcRect b="0" l="0" r="0" t="47987"/>
          <a:stretch/>
        </p:blipFill>
        <p:spPr>
          <a:xfrm>
            <a:off x="6119750" y="1830947"/>
            <a:ext cx="2864175" cy="996951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4"/>
          <p:cNvSpPr txBox="1"/>
          <p:nvPr/>
        </p:nvSpPr>
        <p:spPr>
          <a:xfrm>
            <a:off x="106200" y="568025"/>
            <a:ext cx="6455400" cy="14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Build a high capacity model one-unit at a time. 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i="1" lang="en">
                <a:solidFill>
                  <a:schemeClr val="dk1"/>
                </a:solidFill>
              </a:rPr>
              <a:t>M</a:t>
            </a:r>
            <a:r>
              <a:rPr lang="en">
                <a:solidFill>
                  <a:schemeClr val="dk1"/>
                </a:solidFill>
              </a:rPr>
              <a:t> rounds → </a:t>
            </a:r>
            <a:r>
              <a:rPr lang="en">
                <a:solidFill>
                  <a:schemeClr val="dk1"/>
                </a:solidFill>
              </a:rPr>
              <a:t>model</a:t>
            </a:r>
            <a:r>
              <a:rPr baseline="-25000" lang="en">
                <a:solidFill>
                  <a:schemeClr val="dk1"/>
                </a:solidFill>
              </a:rPr>
              <a:t>m</a:t>
            </a:r>
            <a:r>
              <a:rPr lang="en">
                <a:solidFill>
                  <a:schemeClr val="dk1"/>
                </a:solidFill>
              </a:rPr>
              <a:t> → best training loss → validation loss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Optimizing the parameters of each unit, one at a time.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Boosting tends to provide a computationally efficient fine-resolution form of model search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6" name="Google Shape;86;p14"/>
          <p:cNvSpPr txBox="1"/>
          <p:nvPr/>
        </p:nvSpPr>
        <p:spPr>
          <a:xfrm>
            <a:off x="291600" y="117875"/>
            <a:ext cx="859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Efficient Cross-Validation via Boosting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87" name="Google Shape;87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484300" y="635138"/>
            <a:ext cx="4190199" cy="32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 txBox="1"/>
          <p:nvPr/>
        </p:nvSpPr>
        <p:spPr>
          <a:xfrm>
            <a:off x="0" y="513950"/>
            <a:ext cx="6177000" cy="8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Overfitting → capacity of model is too high and cost function is optimized too well.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Model parameters purposefully away from the global minimum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→ validation is lowest. 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93" name="Google Shape;93;p15"/>
          <p:cNvSpPr txBox="1"/>
          <p:nvPr/>
        </p:nvSpPr>
        <p:spPr>
          <a:xfrm>
            <a:off x="57258" y="39761"/>
            <a:ext cx="859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Efficient Cross-Validation via Regularization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94" name="Google Shape;9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1175" y="74175"/>
            <a:ext cx="2833625" cy="2273299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5"/>
          <p:cNvSpPr txBox="1"/>
          <p:nvPr/>
        </p:nvSpPr>
        <p:spPr>
          <a:xfrm>
            <a:off x="57250" y="1393450"/>
            <a:ext cx="5795100" cy="20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Early stopping based regularization: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Properly tune high-capacity model by making a local optimization 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→</a:t>
            </a:r>
            <a:r>
              <a:rPr lang="en" sz="1200">
                <a:solidFill>
                  <a:schemeClr val="dk1"/>
                </a:solidFill>
              </a:rPr>
              <a:t> using set of weights when model achieves minimum validation.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Different optimization → different tuned models → different initializations → different trajectories → different minima, produce different validation-error minimizing.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50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How high should capacity be set?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set high enough such that if model completely optimize it overfits.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96" name="Google Shape;9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14975" y="2382670"/>
            <a:ext cx="3106025" cy="1187669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44789" y="3605547"/>
            <a:ext cx="3720275" cy="10064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5"/>
          <p:cNvSpPr txBox="1"/>
          <p:nvPr/>
        </p:nvSpPr>
        <p:spPr>
          <a:xfrm>
            <a:off x="82225" y="3447022"/>
            <a:ext cx="5355600" cy="16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Regularizer based methods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A regularizer is a simple function that can be added to a cost.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Cost function </a:t>
            </a:r>
            <a:r>
              <a:rPr i="1" lang="en" sz="1200">
                <a:solidFill>
                  <a:schemeClr val="dk1"/>
                </a:solidFill>
              </a:rPr>
              <a:t>g</a:t>
            </a:r>
            <a:r>
              <a:rPr lang="en" sz="1200">
                <a:solidFill>
                  <a:schemeClr val="dk1"/>
                </a:solidFill>
              </a:rPr>
              <a:t> and regularizer </a:t>
            </a:r>
            <a:r>
              <a:rPr i="1" lang="en" sz="1200">
                <a:solidFill>
                  <a:schemeClr val="dk1"/>
                </a:solidFill>
              </a:rPr>
              <a:t>h</a:t>
            </a:r>
            <a:r>
              <a:rPr lang="en" sz="1200">
                <a:solidFill>
                  <a:schemeClr val="dk1"/>
                </a:solidFill>
              </a:rPr>
              <a:t>, then regularized cost is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The regularization parameter: is non-negative, control mixture of cost and regularizer.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→ Bias weights are often not included in the regularizer.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99" name="Google Shape;99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66387" y="4647150"/>
            <a:ext cx="3720275" cy="3852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/>
        </p:nvSpPr>
        <p:spPr>
          <a:xfrm>
            <a:off x="106200" y="568025"/>
            <a:ext cx="8593200" cy="9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I</a:t>
            </a:r>
            <a:r>
              <a:rPr lang="en">
                <a:solidFill>
                  <a:schemeClr val="dk1"/>
                </a:solidFill>
              </a:rPr>
              <a:t>t is possible for a properly cross-validated model to overfit validation data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Therefore, we need test set → testing error gives an unbiased estimate of the cross-validated model’s performance.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5" name="Google Shape;105;p16"/>
          <p:cNvSpPr txBox="1"/>
          <p:nvPr/>
        </p:nvSpPr>
        <p:spPr>
          <a:xfrm>
            <a:off x="291600" y="117875"/>
            <a:ext cx="859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Testing data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06" name="Google Shape;106;p16"/>
          <p:cNvSpPr txBox="1"/>
          <p:nvPr/>
        </p:nvSpPr>
        <p:spPr>
          <a:xfrm>
            <a:off x="275400" y="1695875"/>
            <a:ext cx="859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K-Fold Cross-Validation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275400" y="2092050"/>
            <a:ext cx="859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Choose a single model that has minimum average validation error over all splits.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08" name="Google Shape;10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4400" y="2630250"/>
            <a:ext cx="4372799" cy="116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