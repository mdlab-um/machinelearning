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Old Standard TT"/>
      <p:regular r:id="rId8"/>
      <p:bold r:id="rId9"/>
      <p: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OldStandardTT-italic.fntdata"/><Relationship Id="rId9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ldStandardT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8a4275011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8a427501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2f2e3331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2f2e3331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/>
        </p:nvSpPr>
        <p:spPr>
          <a:xfrm>
            <a:off x="62666" y="951225"/>
            <a:ext cx="52134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Trained using all available input information in the past and future of a specific time frame.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This is accomplished by training it simultaneously in positive (forward) and negative (backward) time direction.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775" y="224704"/>
            <a:ext cx="3704055" cy="172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48" y="0"/>
            <a:ext cx="5366325" cy="851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13"/>
          <p:cNvGrpSpPr/>
          <p:nvPr/>
        </p:nvGrpSpPr>
        <p:grpSpPr>
          <a:xfrm>
            <a:off x="75200" y="2126019"/>
            <a:ext cx="8915626" cy="2703992"/>
            <a:chOff x="75200" y="2126019"/>
            <a:chExt cx="8915626" cy="2703992"/>
          </a:xfrm>
        </p:grpSpPr>
        <p:pic>
          <p:nvPicPr>
            <p:cNvPr id="63" name="Google Shape;63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88775" y="2126019"/>
              <a:ext cx="3602051" cy="16067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3"/>
            <p:cNvSpPr txBox="1"/>
            <p:nvPr/>
          </p:nvSpPr>
          <p:spPr>
            <a:xfrm>
              <a:off x="75200" y="2126025"/>
              <a:ext cx="5561400" cy="173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Structure: </a:t>
              </a:r>
              <a:endPara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ld Standard TT"/>
                <a:buChar char="●"/>
              </a:pPr>
              <a:r>
                <a:rPr lang="en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Idea is to split the state neurons of RNN part responsible for </a:t>
              </a:r>
              <a:r>
                <a:rPr lang="en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forward</a:t>
              </a:r>
              <a:r>
                <a:rPr lang="en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 and backward </a:t>
              </a:r>
              <a:r>
                <a:rPr lang="en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direction</a:t>
              </a:r>
              <a:r>
                <a:rPr lang="en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.</a:t>
              </a:r>
              <a:endPara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-3175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ld Standard TT"/>
                <a:buChar char="●"/>
              </a:pPr>
              <a:r>
                <a:rPr lang="en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Outputs from forward states are not connected to inputs of backward states.</a:t>
              </a:r>
              <a:endPara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-317500" lvl="0" marL="457200" rtl="0" algn="l">
                <a:spcBef>
                  <a:spcPts val="1000"/>
                </a:spcBef>
                <a:spcAft>
                  <a:spcPts val="1000"/>
                </a:spcAft>
                <a:buClr>
                  <a:schemeClr val="dk1"/>
                </a:buClr>
                <a:buSzPts val="1400"/>
                <a:buFont typeface="Old Standard TT"/>
                <a:buChar char="●"/>
              </a:pPr>
              <a:r>
                <a:rPr lang="en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Forward: Processes the input sequence from t=1 to t=T.</a:t>
              </a:r>
              <a:endPara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81436" y="3870611"/>
              <a:ext cx="8630400" cy="95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ld Standard TT"/>
                <a:buChar char="●"/>
              </a:pPr>
              <a:r>
                <a:rPr lang="en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Backward: Processes the input sequence from t=T to t=1.</a:t>
              </a:r>
              <a:endPara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  <a:p>
              <a:pPr indent="-317500" lvl="0" marL="457200" rtl="0" algn="l">
                <a:spcBef>
                  <a:spcPts val="1000"/>
                </a:spcBef>
                <a:spcAft>
                  <a:spcPts val="1000"/>
                </a:spcAft>
                <a:buClr>
                  <a:schemeClr val="dk1"/>
                </a:buClr>
                <a:buSzPts val="1400"/>
                <a:buFont typeface="Old Standard TT"/>
                <a:buChar char="●"/>
              </a:pPr>
              <a:r>
                <a:rPr lang="en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Concatenation: The outputs from the forward and backward are concatenated to form the final output at each time step.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068" y="236696"/>
            <a:ext cx="2663351" cy="80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98900" y="286800"/>
            <a:ext cx="59136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Forward: 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Backward:</a:t>
            </a:r>
            <a:b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</a:b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Combined:  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4">
            <a:alphaModFix/>
          </a:blip>
          <a:srcRect b="0" l="6358" r="0" t="14500"/>
          <a:stretch/>
        </p:blipFill>
        <p:spPr>
          <a:xfrm>
            <a:off x="6012500" y="87675"/>
            <a:ext cx="3034474" cy="225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 rotWithShape="1">
          <a:blip r:embed="rId5">
            <a:alphaModFix/>
          </a:blip>
          <a:srcRect b="0" l="6050" r="0" t="20337"/>
          <a:stretch/>
        </p:blipFill>
        <p:spPr>
          <a:xfrm>
            <a:off x="1540690" y="944651"/>
            <a:ext cx="2561200" cy="6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6">
            <a:alphaModFix/>
          </a:blip>
          <a:srcRect b="14826" l="32819" r="34452" t="56688"/>
          <a:stretch/>
        </p:blipFill>
        <p:spPr>
          <a:xfrm>
            <a:off x="1478070" y="1453026"/>
            <a:ext cx="1716049" cy="2926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0" y="2153850"/>
            <a:ext cx="86055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Pros of BRNN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1. Better Understanding: They look at data from both the past and the future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2. More Accurate: They consider more information, leading to better predictions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3. Handles Ambiguity: They use context from both directions to clear up confusion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Cons of BRNN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1. Slower to Compute: They process the data twice, once forward and once backward (still efficient than LSTM)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2. Uses More Memory: Storing hidden states in both directions uses more memory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3. More Complex to Build: They need careful handling of both forward and backward passes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4. Delay in Real-Time: They need to see the whole sequence before making a decision</a:t>
            </a:r>
            <a:endParaRPr sz="130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