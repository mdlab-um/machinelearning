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Old Standard TT"/>
      <p:regular r:id="rId9"/>
      <p:bold r:id="rId10"/>
      <p: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ldStandardTT-italic.fntdata"/><Relationship Id="rId10" Type="http://schemas.openxmlformats.org/officeDocument/2006/relationships/font" Target="fonts/OldStandardTT-bold.fntdata"/><Relationship Id="rId9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ecdc472d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ecdc472d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ecdc472d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ecdc472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cdc472d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ecdc472d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3"/>
          <p:cNvGrpSpPr/>
          <p:nvPr/>
        </p:nvGrpSpPr>
        <p:grpSpPr>
          <a:xfrm>
            <a:off x="5786399" y="45050"/>
            <a:ext cx="3284200" cy="3131375"/>
            <a:chOff x="5721524" y="541150"/>
            <a:chExt cx="3284200" cy="3131375"/>
          </a:xfrm>
        </p:grpSpPr>
        <p:pic>
          <p:nvPicPr>
            <p:cNvPr id="60" name="Google Shape;6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21524" y="541150"/>
              <a:ext cx="3284200" cy="2907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3"/>
            <p:cNvSpPr txBox="1"/>
            <p:nvPr/>
          </p:nvSpPr>
          <p:spPr>
            <a:xfrm>
              <a:off x="6352175" y="3380025"/>
              <a:ext cx="2022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/>
                <a:t>https://towardsdatascience.com/</a:t>
              </a:r>
              <a:endParaRPr sz="700"/>
            </a:p>
          </p:txBody>
        </p:sp>
      </p:grpSp>
      <p:sp>
        <p:nvSpPr>
          <p:cNvPr id="62" name="Google Shape;62;p13"/>
          <p:cNvSpPr txBox="1"/>
          <p:nvPr/>
        </p:nvSpPr>
        <p:spPr>
          <a:xfrm>
            <a:off x="90000" y="541150"/>
            <a:ext cx="5696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Aims to reduce the dimensionality of data while preserving its topological structure.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Assumes data samples are uniformly distributed across a topological space (manifold).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manifold can be approximated from the finite data samples.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data are then mapped (projected) onto a lower-dimensional space.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62500" y="118375"/>
            <a:ext cx="86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UMAP: Uniform Manifold Approximation and Projection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64" name="Google Shape;64;p13"/>
          <p:cNvGrpSpPr/>
          <p:nvPr/>
        </p:nvGrpSpPr>
        <p:grpSpPr>
          <a:xfrm>
            <a:off x="6082615" y="3112389"/>
            <a:ext cx="2944108" cy="1910416"/>
            <a:chOff x="5965077" y="3144400"/>
            <a:chExt cx="2975951" cy="1931079"/>
          </a:xfrm>
        </p:grpSpPr>
        <p:pic>
          <p:nvPicPr>
            <p:cNvPr id="65" name="Google Shape;65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077" y="3144400"/>
              <a:ext cx="2975951" cy="170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3"/>
            <p:cNvSpPr txBox="1"/>
            <p:nvPr/>
          </p:nvSpPr>
          <p:spPr>
            <a:xfrm>
              <a:off x="6049950" y="4782979"/>
              <a:ext cx="2806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450" lIns="90450" spcFirstLastPara="1" rIns="90450" wrap="square" tIns="90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92"/>
                <a:t>https://umap-learn.readthedocs.io/en/latest/how_umap_works.html</a:t>
              </a:r>
              <a:endParaRPr sz="692"/>
            </a:p>
          </p:txBody>
        </p:sp>
      </p:grpSp>
      <p:sp>
        <p:nvSpPr>
          <p:cNvPr id="67" name="Google Shape;67;p13"/>
          <p:cNvSpPr txBox="1"/>
          <p:nvPr/>
        </p:nvSpPr>
        <p:spPr>
          <a:xfrm>
            <a:off x="122100" y="2665125"/>
            <a:ext cx="5850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Step 1 - Learning the manifold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Finding nearest neighbors</a:t>
            </a:r>
            <a:r>
              <a:rPr lang="en" sz="1300"/>
              <a:t>: Efficient K-Nearest Neighbor Graph Construction for Generic Similarity Measures.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For each observation, compute </a:t>
            </a:r>
            <a:r>
              <a:rPr i="1" lang="en" sz="1300"/>
              <a:t>d</a:t>
            </a:r>
            <a:r>
              <a:rPr baseline="-25000" i="1" lang="en" sz="1300"/>
              <a:t>𝑖,𝑗</a:t>
            </a:r>
            <a:r>
              <a:rPr lang="en" sz="1300"/>
              <a:t> using a chosen metric and identify its </a:t>
            </a:r>
            <a:r>
              <a:rPr i="1" lang="en" sz="1300"/>
              <a:t>k</a:t>
            </a:r>
            <a:r>
              <a:rPr lang="en" sz="1300"/>
              <a:t> nearest neighbors (smallest distances).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SzPts val="1300"/>
              <a:buAutoNum type="alphaLcPeriod"/>
            </a:pPr>
            <a:r>
              <a:rPr lang="en" sz="1300"/>
              <a:t>Small no. of neighbors → very local interpretation that accurately captures the fine detail of the structure</a:t>
            </a:r>
            <a:r>
              <a:rPr lang="en" sz="1300"/>
              <a:t>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4"/>
          <p:cNvGrpSpPr/>
          <p:nvPr/>
        </p:nvGrpSpPr>
        <p:grpSpPr>
          <a:xfrm>
            <a:off x="34161" y="143790"/>
            <a:ext cx="8889000" cy="3311800"/>
            <a:chOff x="-23275" y="3211200"/>
            <a:chExt cx="8889000" cy="3311800"/>
          </a:xfrm>
        </p:grpSpPr>
        <p:sp>
          <p:nvSpPr>
            <p:cNvPr id="73" name="Google Shape;73;p14"/>
            <p:cNvSpPr txBox="1"/>
            <p:nvPr/>
          </p:nvSpPr>
          <p:spPr>
            <a:xfrm>
              <a:off x="-23275" y="3254800"/>
              <a:ext cx="8889000" cy="32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AutoNum type="arabicPeriod"/>
              </a:pPr>
              <a:r>
                <a:t/>
              </a:r>
              <a:endParaRPr sz="1300"/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SzPts val="1300"/>
                <a:buAutoNum type="arabicPeriod"/>
              </a:pPr>
              <a:r>
                <a:rPr b="1" lang="en" sz="1300"/>
                <a:t>Constructing a graph</a:t>
              </a:r>
              <a:r>
                <a:rPr lang="en" sz="1300"/>
                <a:t>: construct a graph by connecting the previously identified nearest neighbors.</a:t>
              </a:r>
              <a:endParaRPr sz="1300"/>
            </a:p>
            <a:p>
              <a:pPr indent="-311150" lvl="1" marL="914400" rtl="0" algn="l">
                <a:spcBef>
                  <a:spcPts val="1000"/>
                </a:spcBef>
                <a:spcAft>
                  <a:spcPts val="0"/>
                </a:spcAft>
                <a:buSzPts val="1300"/>
                <a:buAutoNum type="alphaLcPeriod"/>
              </a:pPr>
              <a:r>
                <a:rPr b="1" lang="en" sz="1300"/>
                <a:t>Varying distance</a:t>
              </a:r>
              <a:r>
                <a:rPr lang="en" sz="1300"/>
                <a:t>: </a:t>
              </a:r>
              <a:r>
                <a:rPr lang="en" sz="1200"/>
                <a:t>Points are assumed uniformly spread across the manifold.</a:t>
              </a:r>
              <a:endParaRPr sz="1200"/>
            </a:p>
            <a:p>
              <a:pPr indent="0" lvl="0" marL="91440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/>
                <a:t>Distances stretch or shrink in sparse/dense regions → distance metric varies locally.</a:t>
              </a:r>
              <a:endParaRPr sz="1200"/>
            </a:p>
            <a:p>
              <a:pPr indent="-311150" lvl="1" marL="914400" rtl="0" algn="l">
                <a:spcBef>
                  <a:spcPts val="1000"/>
                </a:spcBef>
                <a:spcAft>
                  <a:spcPts val="0"/>
                </a:spcAft>
                <a:buSzPts val="1300"/>
                <a:buAutoNum type="alphaLcPeriod"/>
              </a:pPr>
              <a:r>
                <a:rPr b="1" lang="en" sz="1300"/>
                <a:t>Local connectivity </a:t>
              </a:r>
              <a:r>
                <a:rPr lang="en" sz="1300">
                  <a:solidFill>
                    <a:schemeClr val="dk1"/>
                  </a:solidFill>
                </a:rPr>
                <a:t>hyperparameter (default = 1)</a:t>
              </a:r>
              <a:r>
                <a:rPr lang="en" sz="1300"/>
                <a:t>: Ensures no isolated points in the manifold.</a:t>
              </a:r>
              <a:endParaRPr sz="1300"/>
            </a:p>
            <a:p>
              <a:pPr indent="0" lvl="0" marL="91440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00"/>
                <a:t>Each point connects to at least one neighbor.</a:t>
              </a:r>
              <a:endParaRPr sz="1300"/>
            </a:p>
            <a:p>
              <a:pPr indent="-311150" lvl="1" marL="914400" rtl="0" algn="l">
                <a:spcBef>
                  <a:spcPts val="1000"/>
                </a:spcBef>
                <a:spcAft>
                  <a:spcPts val="0"/>
                </a:spcAft>
                <a:buSzPts val="1300"/>
                <a:buAutoNum type="alphaLcPeriod"/>
              </a:pPr>
              <a:r>
                <a:rPr b="1" lang="en" sz="1300"/>
                <a:t>Fuzzy area</a:t>
              </a:r>
              <a:r>
                <a:rPr lang="en" sz="1300"/>
                <a:t>: Connection certainty decreases with distance from a point of interest.</a:t>
              </a:r>
              <a:endParaRPr sz="1300"/>
            </a:p>
            <a:p>
              <a:pPr indent="-311150" lvl="1" marL="914400" rtl="0" algn="l">
                <a:spcBef>
                  <a:spcPts val="1000"/>
                </a:spcBef>
                <a:spcAft>
                  <a:spcPts val="0"/>
                </a:spcAft>
                <a:buSzPts val="1300"/>
                <a:buAutoNum type="alphaLcPeriod"/>
              </a:pPr>
              <a:r>
                <a:rPr b="1" lang="en" sz="1300"/>
                <a:t>Merging of edges</a:t>
              </a:r>
              <a:r>
                <a:rPr lang="en" sz="1300"/>
                <a:t>: understand that the connection certainty through edge weights (w).</a:t>
              </a:r>
              <a:endParaRPr sz="1300"/>
            </a:p>
            <a:p>
              <a:pPr indent="0" lvl="0" marL="91440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00"/>
                <a:t>Cases where edge weights do not align when viewed from the perspective of each point → take a union of the two edges.</a:t>
              </a:r>
              <a:endParaRPr sz="1300"/>
            </a:p>
            <a:p>
              <a:pPr indent="0" lvl="0" marL="91440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300"/>
                <a:t>The weights are effectively the probabilities that an edge (1-simplex) exists. </a:t>
              </a:r>
              <a:endParaRPr sz="1300"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165600" y="3211200"/>
              <a:ext cx="367200" cy="35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262500" y="-5"/>
            <a:ext cx="861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UMAP: Uniform Manifold Approximation and Projection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14358" l="11402" r="51298" t="52045"/>
          <a:stretch/>
        </p:blipFill>
        <p:spPr>
          <a:xfrm>
            <a:off x="7150400" y="1710653"/>
            <a:ext cx="16344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923" y="3389525"/>
            <a:ext cx="2770750" cy="15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3990" y="3389525"/>
            <a:ext cx="2770750" cy="159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1575" y="3096342"/>
            <a:ext cx="2141576" cy="1794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214650" y="444545"/>
            <a:ext cx="88587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Step 2 - </a:t>
            </a:r>
            <a:r>
              <a:rPr b="1" lang="en" sz="1300"/>
              <a:t>Finding a low-dimensional representation</a:t>
            </a:r>
            <a:r>
              <a:rPr lang="en" sz="1300"/>
              <a:t>: </a:t>
            </a:r>
            <a:br>
              <a:rPr lang="en" sz="1300"/>
            </a:br>
            <a:r>
              <a:rPr lang="en" sz="1300"/>
              <a:t>	   → After learning the approximate manifold from the higher-dimensional space.</a:t>
            </a:r>
            <a:br>
              <a:rPr lang="en" sz="1300"/>
            </a:br>
            <a:r>
              <a:rPr lang="en" sz="1300"/>
              <a:t>	   → Project the learned manifold into a lower-dimensional space.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Minimum distance</a:t>
            </a:r>
            <a:r>
              <a:rPr lang="en" sz="1300"/>
              <a:t>: Switch to standard Euclidean distance in the low-dimensional space.</a:t>
            </a:r>
            <a:br>
              <a:rPr lang="en" sz="1300"/>
            </a:br>
            <a:r>
              <a:rPr lang="en" sz="1300"/>
              <a:t>Hyperparameter (_min_dist; default=0.1) to define the minimum distance between embedded points.</a:t>
            </a:r>
            <a:br>
              <a:rPr lang="en" sz="1300"/>
            </a:br>
            <a:r>
              <a:rPr lang="en" sz="1300"/>
              <a:t>Aim to control the minimum spread of points → avoid overlapping of points in the lower-dimensional embedding.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AutoNum type="arabicPeriod"/>
            </a:pPr>
            <a:r>
              <a:rPr b="1" lang="en" sz="1300"/>
              <a:t>Minimizing the cost function (Cross-Entropy)</a:t>
            </a:r>
            <a:r>
              <a:rPr lang="en" sz="1300"/>
              <a:t>: With the minimum distance specified, the algorithm can start looking for a good low-dimensional manifold representation.  </a:t>
            </a:r>
            <a:endParaRPr sz="1300"/>
          </a:p>
        </p:txBody>
      </p:sp>
      <p:sp>
        <p:nvSpPr>
          <p:cNvPr id="85" name="Google Shape;85;p15"/>
          <p:cNvSpPr txBox="1"/>
          <p:nvPr/>
        </p:nvSpPr>
        <p:spPr>
          <a:xfrm>
            <a:off x="262500" y="36732"/>
            <a:ext cx="86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UMAP: Uniform Manifold Approximation and Projection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501" y="2408175"/>
            <a:ext cx="3818976" cy="257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