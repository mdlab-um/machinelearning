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Old Standard TT"/>
      <p:regular r:id="rId16"/>
      <p:bold r:id="rId17"/>
      <p:italic r:id="rId18"/>
    </p:embeddedFont>
    <p:embeddedFont>
      <p:font typeface="Helvetica Neue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11" Type="http://schemas.openxmlformats.org/officeDocument/2006/relationships/slide" Target="slides/slide6.xml"/><Relationship Id="rId22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ldStandardTT-bold.fntdata"/><Relationship Id="rId16" Type="http://schemas.openxmlformats.org/officeDocument/2006/relationships/font" Target="fonts/OldStandardT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regular.fntdata"/><Relationship Id="rId6" Type="http://schemas.openxmlformats.org/officeDocument/2006/relationships/slide" Target="slides/slide1.xml"/><Relationship Id="rId18" Type="http://schemas.openxmlformats.org/officeDocument/2006/relationships/font" Target="fonts/OldStandardT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c0abea5a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c0abea5a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1b73c25b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1b73c25b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0c379153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0c379153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0c379153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0c379153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ecc9e37d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ecc9e37d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ecc9e37d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ecc9e37d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8f10fcca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8f10fcca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ecc9e37d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ecc9e37d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ecc9e37d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ecc9e37d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https://web.eecs.umich.edu/~justincj/slides/eecs498/498_FA2019_lecture04.pdf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0c379153a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0c379153a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2.png"/><Relationship Id="rId7" Type="http://schemas.openxmlformats.org/officeDocument/2006/relationships/image" Target="../media/image11.png"/><Relationship Id="rId8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4294967295" type="ctrTitle"/>
          </p:nvPr>
        </p:nvSpPr>
        <p:spPr>
          <a:xfrm>
            <a:off x="1735350" y="2053650"/>
            <a:ext cx="5673300" cy="10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00">
                <a:latin typeface="Helvetica Neue"/>
                <a:ea typeface="Helvetica Neue"/>
                <a:cs typeface="Helvetica Neue"/>
                <a:sym typeface="Helvetica Neue"/>
              </a:rPr>
              <a:t>Gradient Descent Algorithms</a:t>
            </a:r>
            <a:endParaRPr sz="3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59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67050" y="2621805"/>
            <a:ext cx="8257500" cy="14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A general local optimization method: 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	     are the descent direction vectors and     is called the steplength/learning rate parameter. </a:t>
            </a:r>
            <a:r>
              <a:rPr lang="en" sz="1700">
                <a:latin typeface="Helvetica Neue"/>
                <a:ea typeface="Helvetica Neue"/>
                <a:cs typeface="Helvetica Neue"/>
                <a:sym typeface="Helvetica Neue"/>
              </a:rPr>
              <a:t>		        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Gradient descent algorithm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11700" y="4787025"/>
            <a:ext cx="279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67" name="Google Shape;67;p14" title="{&quot;red&quot;:0,&quot;green&quot;:0,&quot;blue&quot;:0,&quot;origURL&quot;:&quot;https://www.codecogs.com/eqnedit.php?latex=w%5Ek%20%3D%20w%5E%7Bk-1%7D%20%2B%20%5Calpha%20d%5Ek#0&quot;,&quot;size&quot;:14,&quot;width&quot;:553.488188976378,&quot;height&quot;:61.7952755905511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000" y="2709555"/>
            <a:ext cx="1623524" cy="20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{&quot;red&quot;:0,&quot;green&quot;:0,&quot;blue&quot;:0,&quot;origURL&quot;:&quot;https://www.codecogs.com/eqnedit.php?latex=d%5Ek#0&quot;,&quot;size&quot;:14,&quot;width&quot;:650.1968503937007,&quot;height&quot;:61.79527559055118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7450" y="3043030"/>
            <a:ext cx="160020" cy="158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{&quot;red&quot;:0,&quot;green&quot;:0,&quot;blue&quot;:0,&quot;origURL&quot;:&quot;https://www.codecogs.com/eqnedit.php?latex=%5Calpha#0&quot;,&quot;size&quot;:14,&quot;width&quot;:650.1968503937007,&quot;height&quot;:61.79527559055118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4146" y="3139912"/>
            <a:ext cx="104013" cy="81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{&quot;red&quot;:0,&quot;green&quot;:0,&quot;blue&quot;:0,&quot;origURL&quot;:&quot;https://www.codecogs.com/eqnedit.php?latex=d%5Ek%3D-%5CDelta%20g(w%5E%7Bk-1%7D)#0&quot;,&quot;size&quot;:14,&quot;width&quot;:650.1968503937007,&quot;height&quot;:175.7244094488189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6022" y="3385255"/>
            <a:ext cx="1280160" cy="19556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526700"/>
            <a:ext cx="8368200" cy="15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Gradient Descent is an iterative method used to adjust parameters in order to minimize a cost function.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Minimization of cost function, loss function or error function.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Randomly initialize parameters, then gradually improve them in small steps to reduce the cost function until reaching a minimum. 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62949" y="3673550"/>
            <a:ext cx="4766203" cy="11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20187" y="2089838"/>
            <a:ext cx="1580796" cy="20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59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Learning rate parameter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60600" y="520286"/>
            <a:ext cx="9006000" cy="24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Determines how quickly the model updates its parameters based on the input data.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A learning rate → a trade-off between the rate of convergence and overshooting. 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○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High → overshoot minima, instability or divergence of the loss function.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○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Low → slow convergence, require more steps, increase computation time.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○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Optimal → Balances training speed and model accuracy, ensure convergence.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Learning rate include: 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Font typeface="Helvetica Neue"/>
              <a:buChar char="○"/>
            </a:pP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Fixed learning rate.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○"/>
            </a:pP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Learning rate schedules.</a:t>
            </a:r>
            <a:endParaRPr sz="1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○"/>
            </a:pP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Adaptive learning rate: learning rate of an algorithm adjusts dynamically during training based on previous iterations. </a:t>
            </a:r>
            <a:endParaRPr sz="1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11700" y="4787025"/>
            <a:ext cx="279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00" y="3213575"/>
            <a:ext cx="4552025" cy="17663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117350" y="4816361"/>
            <a:ext cx="545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https://neptune.ai/blog/how-to-choose-a-learning-rate-scheduler</a:t>
            </a:r>
            <a:endParaRPr sz="900"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9200" y="3080225"/>
            <a:ext cx="3403824" cy="185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59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Convergence Criteria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202150" y="559400"/>
            <a:ext cx="8630100" cy="28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Halting when steps no longer make sufficient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progress.</a:t>
            </a:r>
            <a:b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When corresponding evaluations no longer differ substantially.</a:t>
            </a:r>
            <a:b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Simply run the algorithm for a fixed number of maximum iterations.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787025"/>
            <a:ext cx="279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750" y="1088150"/>
            <a:ext cx="1628899" cy="39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5625" y="2294500"/>
            <a:ext cx="1724258" cy="39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59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Natural Weaknesses of Gradient Descent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167700" y="534075"/>
            <a:ext cx="5905500" cy="12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Direction: can rapidly oscillate or zig-zag during a run of gradient descent, producing zig-zagging steps that take time to reach a near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minimum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 point → slows minimization progress.</a:t>
            </a:r>
            <a:b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Reasons → The (negative) gradient direction points perpendicular to the contours of any function.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3208" y="534075"/>
            <a:ext cx="2880174" cy="157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167700" y="3696435"/>
            <a:ext cx="6897300" cy="12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60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Magnitude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can vanish rapidly near stationary points, leading gradient descent to slowly crawl near minima and saddle points.</a:t>
            </a:r>
            <a:br>
              <a:rPr lang="en" sz="600"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" sz="6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Reason → distance traveled during each step of gradient descent is not completely determined by the steplength.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398" y="2291725"/>
            <a:ext cx="3421159" cy="1051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7"/>
          <p:cNvGrpSpPr/>
          <p:nvPr/>
        </p:nvGrpSpPr>
        <p:grpSpPr>
          <a:xfrm>
            <a:off x="4036379" y="1886138"/>
            <a:ext cx="1588549" cy="1729330"/>
            <a:chOff x="6879325" y="2906800"/>
            <a:chExt cx="1952974" cy="2126051"/>
          </a:xfrm>
        </p:grpSpPr>
        <p:pic>
          <p:nvPicPr>
            <p:cNvPr id="103" name="Google Shape;103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79325" y="3074876"/>
              <a:ext cx="1952974" cy="1957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7" title="{&quot;red&quot;:0,&quot;green&quot;:0,&quot;blue&quot;:0,&quot;origURL&quot;:&quot;https://www.codecogs.com/eqnedit.php?latex=g(w)%20%3D%20w%5E2_0%2Bw%5E2_1%2B2#0&quot;,&quot;size&quot;:14,&quot;width&quot;:510.5196850393701,&quot;height&quot;:79.67716535433071}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15738" y="2906800"/>
              <a:ext cx="1280159" cy="1680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5" name="Google Shape;105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48775" y="3450341"/>
            <a:ext cx="1731325" cy="151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73200" y="148650"/>
            <a:ext cx="2964651" cy="2906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59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Exponential average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150150" y="560400"/>
            <a:ext cx="8728800" cy="43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Core idea → time series and smoothing tool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exponential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 average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Cumulative: </a:t>
            </a:r>
            <a:b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Cumulative average by expressing </a:t>
            </a:r>
            <a:r>
              <a:rPr i="1" lang="en" sz="1400"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r>
              <a:rPr baseline="30000" i="1" lang="en" sz="1400"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in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 a recursive manner involving only its preceding cumulative average </a:t>
            </a:r>
            <a:r>
              <a:rPr i="1" lang="en" sz="1400"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r>
              <a:rPr baseline="30000" i="1" lang="en" sz="1400">
                <a:latin typeface="Helvetica Neue"/>
                <a:ea typeface="Helvetica Neue"/>
                <a:cs typeface="Helvetica Neue"/>
                <a:sym typeface="Helvetica Neue"/>
              </a:rPr>
              <a:t>k-1</a:t>
            </a:r>
            <a:r>
              <a:rPr i="1" lang="en" sz="14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i="1"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Coefficients on </a:t>
            </a:r>
            <a:r>
              <a:rPr i="1" lang="en" sz="1400">
                <a:latin typeface="Helvetica Neue"/>
                <a:ea typeface="Helvetica Neue"/>
                <a:cs typeface="Helvetica Neue"/>
                <a:sym typeface="Helvetica Neue"/>
              </a:rPr>
              <a:t>h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i="1" lang="en" sz="1400"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 sum to 1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With the exponential average → freeze coefficients</a:t>
            </a:r>
            <a:b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Small 𝜷 → approx. raw time (zig-zagging) series 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Larger → subsequent average looks like its predecessor (smoother curve)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311700" y="4787025"/>
            <a:ext cx="279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1700" y="2164370"/>
            <a:ext cx="2797500" cy="167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7975" y="1272625"/>
            <a:ext cx="1862275" cy="40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6699" y="2307949"/>
            <a:ext cx="1342251" cy="3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41250" y="3490243"/>
            <a:ext cx="1865592" cy="239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59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Momentum-accelerated GD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150150" y="560400"/>
            <a:ext cx="8830500" cy="17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A sequence of gradient descent steps → a time series.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To ameliorate zig-zagging behavior of gradient descent steps → compute their exponential average.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Smooth the steps as they are created → by smoothing the descent directions.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Initialize: d</a:t>
            </a:r>
            <a:r>
              <a:rPr baseline="30000" lang="en" sz="1400"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 = -▽g(w</a:t>
            </a:r>
            <a:r>
              <a:rPr baseline="30000" lang="en" sz="1400"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Then the exponential averaged descent direction </a:t>
            </a:r>
            <a:r>
              <a:rPr i="1" lang="en" sz="1400"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aseline="30000" i="1" lang="en" sz="1400">
                <a:latin typeface="Helvetica Neue"/>
                <a:ea typeface="Helvetica Neue"/>
                <a:cs typeface="Helvetica Neue"/>
                <a:sym typeface="Helvetica Neue"/>
              </a:rPr>
              <a:t>k-1</a:t>
            </a:r>
            <a:br>
              <a:rPr baseline="30000"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aseline="30000"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aseline="30000"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311700" y="4787025"/>
            <a:ext cx="279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350" y="2038550"/>
            <a:ext cx="3175226" cy="2897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498" y="2422411"/>
            <a:ext cx="3053853" cy="3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675" y="2910465"/>
            <a:ext cx="1659875" cy="2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165825" y="3283650"/>
            <a:ext cx="5847900" cy="16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</a:t>
            </a:r>
            <a:r>
              <a:rPr lang="en"/>
              <a:t>omentum refers to the new exponentially averaged descent direction </a:t>
            </a:r>
            <a:r>
              <a:rPr i="1" lang="en"/>
              <a:t>d</a:t>
            </a:r>
            <a:r>
              <a:rPr baseline="30000" i="1" lang="en"/>
              <a:t>k-1</a:t>
            </a:r>
            <a:r>
              <a:rPr lang="en"/>
              <a:t> </a:t>
            </a:r>
            <a:br>
              <a:rPr lang="en"/>
            </a:br>
            <a:r>
              <a:rPr lang="en"/>
              <a:t>b</a:t>
            </a:r>
            <a:r>
              <a:rPr lang="en"/>
              <a:t>y definition is </a:t>
            </a:r>
            <a:r>
              <a:rPr lang="en"/>
              <a:t>a function of every negative gradient which precedes it.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i="1" lang="en"/>
              <a:t>d</a:t>
            </a:r>
            <a:r>
              <a:rPr baseline="30000" i="1" lang="en"/>
              <a:t>k-1</a:t>
            </a:r>
            <a:r>
              <a:rPr lang="en"/>
              <a:t> captures the average or momentum of the directions preceding it.</a:t>
            </a:r>
            <a:endParaRPr/>
          </a:p>
        </p:txBody>
      </p:sp>
      <p:pic>
        <p:nvPicPr>
          <p:cNvPr id="129" name="Google Shape;129;p19" title="{&quot;red&quot;:0,&quot;green&quot;:0,&quot;blue&quot;:0,&quot;origURL&quot;:&quot;https://www.codecogs.com/eqnedit.php?latex=d%5Ek%3D-%5CDelta%20g(w%5E%7Bk-1%7D)#0&quot;,&quot;size&quot;:14,&quot;width&quot;:650.1968503937007,&quot;height&quot;:175.7244094488189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4297" y="4787030"/>
            <a:ext cx="1280160" cy="19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158925" y="1675975"/>
            <a:ext cx="88893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</a:t>
            </a:r>
            <a:r>
              <a:rPr lang="en"/>
              <a:t>ength of a standard gradient descent step is proportional to the magnitude of the gradient: </a:t>
            </a:r>
            <a:r>
              <a:rPr lang="en">
                <a:solidFill>
                  <a:schemeClr val="dk1"/>
                </a:solidFill>
              </a:rPr>
              <a:t>𝛼||</a:t>
            </a:r>
            <a:r>
              <a:rPr lang="en"/>
              <a:t>▽g(w</a:t>
            </a:r>
            <a:r>
              <a:rPr baseline="30000" lang="en"/>
              <a:t>k-1</a:t>
            </a:r>
            <a:r>
              <a:rPr lang="en"/>
              <a:t>)||</a:t>
            </a:r>
            <a:r>
              <a:rPr baseline="-25000" lang="en"/>
              <a:t>2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</a:t>
            </a:r>
            <a:r>
              <a:rPr lang="en"/>
              <a:t>ormalize a (gradient) descent direction is via dividing it by its magnitude.</a:t>
            </a:r>
            <a:br>
              <a:rPr lang="en" sz="1600"/>
            </a:br>
            <a:br>
              <a:rPr lang="en" sz="1600"/>
            </a:br>
            <a:br>
              <a:rPr lang="en" sz="1600"/>
            </a:br>
            <a:endParaRPr sz="16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Steplength value adjusts itself at each step is precisely </a:t>
            </a:r>
            <a:r>
              <a:rPr lang="en">
                <a:solidFill>
                  <a:schemeClr val="dk1"/>
                </a:solidFill>
              </a:rPr>
              <a:t>𝛼</a:t>
            </a:r>
            <a:br>
              <a:rPr lang="en" sz="1800">
                <a:solidFill>
                  <a:schemeClr val="dk1"/>
                </a:solidFill>
              </a:rPr>
            </a:br>
            <a:br>
              <a:rPr lang="en" sz="1800">
                <a:solidFill>
                  <a:schemeClr val="dk1"/>
                </a:solidFill>
              </a:rPr>
            </a:br>
            <a:br>
              <a:rPr lang="en" sz="1800">
                <a:solidFill>
                  <a:schemeClr val="dk1"/>
                </a:solidFill>
              </a:rPr>
            </a:br>
            <a:br>
              <a:rPr lang="en" sz="1800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Normalize out the magnitude of the gradient component-wise.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p20"/>
          <p:cNvSpPr txBox="1"/>
          <p:nvPr>
            <p:ph type="title"/>
          </p:nvPr>
        </p:nvSpPr>
        <p:spPr>
          <a:xfrm>
            <a:off x="311700" y="29336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59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Normalized GD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158925" y="560400"/>
            <a:ext cx="7111800" cy="12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Magnitude of -ve gradient vanishes near stationary points causing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gradient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 to slow crawl.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Core idea → what happens if we simply ignore the magnitude at each step by normalizing it out?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311700" y="4787025"/>
            <a:ext cx="279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4825" y="118350"/>
            <a:ext cx="1777476" cy="1557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2825" y="3292682"/>
            <a:ext cx="2959476" cy="1363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8275" y="2487749"/>
            <a:ext cx="1631781" cy="4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6888" y="2484367"/>
            <a:ext cx="2213375" cy="448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99359" y="3585227"/>
            <a:ext cx="2959454" cy="4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28350" y="4597576"/>
            <a:ext cx="2052461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31170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59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Gradient-Based Methods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62102" y="4142775"/>
            <a:ext cx="71151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Adaptive Moment Estimation (Adam)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 → is a component-wise normalized gradient step employing independently-calculated exponential averages for both the descent direction and its magnitude.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311700" y="4787025"/>
            <a:ext cx="279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7510076" y="4343775"/>
            <a:ext cx="1065900" cy="42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David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52" name="Google Shape;152;p21"/>
          <p:cNvCxnSpPr>
            <a:endCxn id="151" idx="1"/>
          </p:cNvCxnSpPr>
          <p:nvPr/>
        </p:nvCxnSpPr>
        <p:spPr>
          <a:xfrm flipH="1" rot="10800000">
            <a:off x="7090976" y="4558125"/>
            <a:ext cx="419100" cy="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62089" y="3074322"/>
            <a:ext cx="71151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Root Mean Squared Propagation (RMSProp)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 →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a variant of the component-wise normalized step where – instead of normalizing each component of the gradient by its magnitude – each component is normalized by the exponential average of the component-wise magnitudes of previous gradient directions.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7510063" y="3275322"/>
            <a:ext cx="1065900" cy="42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Harsha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55" name="Google Shape;155;p21"/>
          <p:cNvCxnSpPr>
            <a:endCxn id="154" idx="1"/>
          </p:cNvCxnSpPr>
          <p:nvPr/>
        </p:nvCxnSpPr>
        <p:spPr>
          <a:xfrm flipH="1" rot="10800000">
            <a:off x="7090963" y="3489672"/>
            <a:ext cx="419100" cy="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6" name="Google Shape;156;p21"/>
          <p:cNvSpPr txBox="1"/>
          <p:nvPr>
            <p:ph idx="1" type="body"/>
          </p:nvPr>
        </p:nvSpPr>
        <p:spPr>
          <a:xfrm>
            <a:off x="62089" y="2236165"/>
            <a:ext cx="71151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Adaptive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 Gradient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 (AdaGrad) →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Added element-wise scaling of the gradient based on the historical sum of squares in each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dimension and adaptive learning rate.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7510063" y="2326240"/>
            <a:ext cx="1065900" cy="42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Kairong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58" name="Google Shape;158;p21"/>
          <p:cNvCxnSpPr>
            <a:endCxn id="157" idx="1"/>
          </p:cNvCxnSpPr>
          <p:nvPr/>
        </p:nvCxnSpPr>
        <p:spPr>
          <a:xfrm flipH="1" rot="10800000">
            <a:off x="7090963" y="2540590"/>
            <a:ext cx="419100" cy="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62100" y="497775"/>
            <a:ext cx="7298100" cy="15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Batch Gradient Descent: uses the whole training set to compute the gradients at every step.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Stochastic gradient descent (SGD): At each step, it picks a random training instance and computes gradients using only that one.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Mini-batch Gradient Descent: computes the gradients on small random sets of instances called minibatches.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21"/>
          <p:cNvSpPr txBox="1"/>
          <p:nvPr>
            <p:ph idx="1" type="body"/>
          </p:nvPr>
        </p:nvSpPr>
        <p:spPr>
          <a:xfrm>
            <a:off x="7510063" y="986647"/>
            <a:ext cx="1065900" cy="42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Jessica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61" name="Google Shape;161;p21"/>
          <p:cNvCxnSpPr>
            <a:endCxn id="160" idx="1"/>
          </p:cNvCxnSpPr>
          <p:nvPr/>
        </p:nvCxnSpPr>
        <p:spPr>
          <a:xfrm flipH="1" rot="10800000">
            <a:off x="7090963" y="1200997"/>
            <a:ext cx="419100" cy="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type="title"/>
          </p:nvPr>
        </p:nvSpPr>
        <p:spPr>
          <a:xfrm>
            <a:off x="31170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59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Gradient-Based Methods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67" name="Google Shape;167;p22"/>
          <p:cNvGrpSpPr/>
          <p:nvPr/>
        </p:nvGrpSpPr>
        <p:grpSpPr>
          <a:xfrm>
            <a:off x="1260979" y="1313215"/>
            <a:ext cx="6309214" cy="2373315"/>
            <a:chOff x="1564175" y="2153925"/>
            <a:chExt cx="6015651" cy="2262886"/>
          </a:xfrm>
        </p:grpSpPr>
        <p:pic>
          <p:nvPicPr>
            <p:cNvPr id="168" name="Google Shape;168;p22"/>
            <p:cNvPicPr preferRelativeResize="0"/>
            <p:nvPr/>
          </p:nvPicPr>
          <p:blipFill rotWithShape="1">
            <a:blip r:embed="rId3">
              <a:alphaModFix/>
            </a:blip>
            <a:srcRect b="0" l="0" r="0" t="66975"/>
            <a:stretch/>
          </p:blipFill>
          <p:spPr>
            <a:xfrm>
              <a:off x="1564175" y="3590212"/>
              <a:ext cx="6015651" cy="826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22"/>
            <p:cNvPicPr preferRelativeResize="0"/>
            <p:nvPr/>
          </p:nvPicPr>
          <p:blipFill rotWithShape="1">
            <a:blip r:embed="rId3">
              <a:alphaModFix/>
            </a:blip>
            <a:srcRect b="42617" l="0" r="0" t="0"/>
            <a:stretch/>
          </p:blipFill>
          <p:spPr>
            <a:xfrm>
              <a:off x="1564175" y="2153925"/>
              <a:ext cx="6015651" cy="1436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