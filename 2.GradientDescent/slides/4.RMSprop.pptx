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C47194-ABAA-4690-A203-E2F7B094C82E}">
  <a:tblStyle styleId="{8DC47194-ABAA-4690-A203-E2F7B094C8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2b41bb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2b41bb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62b41bb6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62b41bb6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2b41bb6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2b41bb6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62b41bb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62b41bb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Mean Squared Propagation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Harshavardhan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ach component is normalized by the exponential moving average of the component-wise magnitudes of previous gradient directions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Tieleman and Hinton (2012) Neural Networks for Machine Learning, </a:t>
            </a:r>
            <a:r>
              <a:rPr lang="en"/>
              <a:t>Lecture</a:t>
            </a:r>
            <a:r>
              <a:rPr lang="en"/>
              <a:t> 6, Coursera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71750"/>
            <a:ext cx="3628001" cy="18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6950" y="2346650"/>
            <a:ext cx="4224900" cy="21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Adagrad vs RMSProp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RMSProp generally converges faster than AdaGrad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emphasis on recent gradient values rather than equal </a:t>
            </a:r>
            <a:r>
              <a:rPr lang="en"/>
              <a:t>importance between </a:t>
            </a:r>
            <a:r>
              <a:rPr lang="en"/>
              <a:t>all gradients 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3947" r="5709" t="0"/>
          <a:stretch/>
        </p:blipFill>
        <p:spPr>
          <a:xfrm>
            <a:off x="0" y="2323725"/>
            <a:ext cx="4349977" cy="14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4494" r="5803" t="0"/>
          <a:stretch/>
        </p:blipFill>
        <p:spPr>
          <a:xfrm>
            <a:off x="4296800" y="2323725"/>
            <a:ext cx="4847202" cy="16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147225" y="4011475"/>
            <a:ext cx="18765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Adagrad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782150" y="4057500"/>
            <a:ext cx="18765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RMSProp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51809" t="0"/>
          <a:stretch/>
        </p:blipFill>
        <p:spPr>
          <a:xfrm>
            <a:off x="2465850" y="379875"/>
            <a:ext cx="3911849" cy="43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7"/>
          <p:cNvGraphicFramePr/>
          <p:nvPr/>
        </p:nvGraphicFramePr>
        <p:xfrm>
          <a:off x="610625" y="6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{8DC47194-ABAA-4690-A203-E2F7B094C82E}</a:tableStyleId>
              </a:tblPr>
              <a:tblGrid>
                <a:gridCol w="2456050"/>
                <a:gridCol w="2456050"/>
                <a:gridCol w="2456050"/>
              </a:tblGrid>
              <a:tr h="32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Aspect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AdaGrad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RMSProp</a:t>
                      </a:r>
                      <a:endParaRPr b="1"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Learning Rate Behavior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Decays</a:t>
                      </a:r>
                      <a:r>
                        <a:rPr lang="en" sz="1100"/>
                        <a:t> continuously over time because it divides by the cumulative sum of squared gradients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Learning rate adapts but stays roughly constant because it uses an exponentially decaying average of squared gradients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Effect on Convergence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Fast at the beginning (large steps) but often stalls later due to vanishing learning rate.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Consistent progress throughout training; avoids “freezing” and converges better on long training runs.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Best Use Cases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Convex, sparse problems (e.g., NLP embeddings, logistic regression).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Non-convex problems (deep networks, CNNs, RNNs) where training must continue improving over many epochs.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Sensitivity to Initial LR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Needs a slightly higher initial learning rate because it will decay over time.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Works well with moderate learning rate (commonly 1e-3) and is less sensitive to exact tuning.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Batch Size Effects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With large batches, cumulative history grows quickly → learning rate decays too fast → underfitting risk. With small batches, decay is slower and works better.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More robust to batch size choice — exponential averaging smooths noise, so even very small batch sizes remain stable.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Noise Handling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Noisy gradients can still shrink the learning rate too aggressively because every step is added to history.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Exponential averaging smooths noisy gradients, keeping effective step sizes stable.</a:t>
                      </a:r>
                      <a:endParaRPr sz="11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