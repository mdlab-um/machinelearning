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  <p:embeddedFont>
      <p:font typeface="Helvetica Neue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bold.fntdata"/><Relationship Id="rId14" Type="http://schemas.openxmlformats.org/officeDocument/2006/relationships/font" Target="fonts/OldStandardTT-regular.fntdata"/><Relationship Id="rId17" Type="http://schemas.openxmlformats.org/officeDocument/2006/relationships/font" Target="fonts/HelveticaNeue-regular.fntdata"/><Relationship Id="rId16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0abea5a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0abea5a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1b73c25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1b73c25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32d83090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132d83090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132d830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132d830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32d83090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32d83090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32d83090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132d83090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7a151c8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7a151c8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df6210a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df6210a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hyperlink" Target="https://web.stanford.edu/class/cs224n/readings/cs224n-self-attention-transformers-2023_draft.pdf" TargetMode="External"/><Relationship Id="rId7" Type="http://schemas.openxmlformats.org/officeDocument/2006/relationships/hyperlink" Target="https://web.stanford.edu/~jurafsky/slp3/8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213" y="514325"/>
            <a:ext cx="7699575" cy="333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4294967295" type="ctrTitle"/>
          </p:nvPr>
        </p:nvSpPr>
        <p:spPr>
          <a:xfrm>
            <a:off x="1735350" y="4065550"/>
            <a:ext cx="5673300" cy="7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>
                <a:latin typeface="Times"/>
                <a:ea typeface="Times"/>
                <a:cs typeface="Times"/>
                <a:sym typeface="Times"/>
              </a:rPr>
              <a:t>12/19/2025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Limitations of RNN-based models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75696" y="3602517"/>
            <a:ext cx="5650200" cy="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What if we remove this linear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dependencies? 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Any word can directly attend to any other word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No need to pass information sequentially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230654" y="4604796"/>
            <a:ext cx="169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Self-Attention!</a:t>
            </a:r>
            <a:endParaRPr b="1"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281400" y="986675"/>
            <a:ext cx="5592900" cy="26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Sequential data processing is inherently serialized: </a:t>
            </a:r>
            <a:b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→ they ingest the elements of an input sequence one at a time and in a specific order.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Sequential nature also limits the ability to process data in parallel which slows down training.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Linear interaction distance → Long sequences make it difficult for the model to recall earlier words and capture long-range dependencies.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Parallelization issue with dependence on the sequence index.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9027" l="14288" r="14195" t="12262"/>
          <a:stretch/>
        </p:blipFill>
        <p:spPr>
          <a:xfrm>
            <a:off x="6297400" y="91800"/>
            <a:ext cx="2747700" cy="23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11939" r="11863" t="9123"/>
          <a:stretch/>
        </p:blipFill>
        <p:spPr>
          <a:xfrm>
            <a:off x="6297400" y="2466698"/>
            <a:ext cx="2747700" cy="25612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87169" y="540583"/>
            <a:ext cx="56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main limitation of RNNs is the vanishing gradient problem.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1497" t="0"/>
          <a:stretch/>
        </p:blipFill>
        <p:spPr>
          <a:xfrm>
            <a:off x="-11473" y="-22946"/>
            <a:ext cx="9144002" cy="506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0"/>
            <a:ext cx="37770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Embedding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59300" y="618475"/>
            <a:ext cx="8656800" cy="18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Bag of words → dimension of vector = 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vocabulary</a:t>
            </a: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 of the document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Aims to create a vector representation with a lower dimensional space while preserves the contextual similarity of words.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2 advantages: Dimensionality reduction and contextual similarity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Input text → tokens → Embedding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It is similar to linear layer but a lookup instead of matrix multiplication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75" y="2889900"/>
            <a:ext cx="3528225" cy="13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0" y="4806996"/>
            <a:ext cx="7186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https://medium.com/@gautam.e/what-is-nn-embedding-really-de038baadd24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673" y="1206525"/>
            <a:ext cx="3746801" cy="3870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7"/>
          <p:cNvGrpSpPr/>
          <p:nvPr/>
        </p:nvGrpSpPr>
        <p:grpSpPr>
          <a:xfrm>
            <a:off x="6131938" y="0"/>
            <a:ext cx="1548575" cy="2154698"/>
            <a:chOff x="6212249" y="0"/>
            <a:chExt cx="1548575" cy="2154698"/>
          </a:xfrm>
        </p:grpSpPr>
        <p:pic>
          <p:nvPicPr>
            <p:cNvPr id="92" name="Google Shape;9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12249" y="0"/>
              <a:ext cx="1548575" cy="215469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" name="Google Shape;93;p17"/>
            <p:cNvCxnSpPr/>
            <p:nvPr/>
          </p:nvCxnSpPr>
          <p:spPr>
            <a:xfrm rot="10800000">
              <a:off x="7468900" y="1147200"/>
              <a:ext cx="229500" cy="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Self-attention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502665"/>
            <a:ext cx="5900400" cy="7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An attention mechanism relating different positions of a single sequence in order to compute a representation of the sequence.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5">
            <a:alphaModFix/>
          </a:blip>
          <a:srcRect b="3520" l="29984" r="50579" t="34716"/>
          <a:stretch/>
        </p:blipFill>
        <p:spPr>
          <a:xfrm>
            <a:off x="7562763" y="2306950"/>
            <a:ext cx="1514227" cy="26269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7"/>
          <p:cNvGrpSpPr/>
          <p:nvPr/>
        </p:nvGrpSpPr>
        <p:grpSpPr>
          <a:xfrm>
            <a:off x="7698400" y="143300"/>
            <a:ext cx="1445600" cy="3401875"/>
            <a:chOff x="7698400" y="143300"/>
            <a:chExt cx="1445600" cy="3401875"/>
          </a:xfrm>
        </p:grpSpPr>
        <p:cxnSp>
          <p:nvCxnSpPr>
            <p:cNvPr id="99" name="Google Shape;99;p17"/>
            <p:cNvCxnSpPr/>
            <p:nvPr/>
          </p:nvCxnSpPr>
          <p:spPr>
            <a:xfrm rot="10800000">
              <a:off x="7973850" y="2154675"/>
              <a:ext cx="298200" cy="13905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pic>
          <p:nvPicPr>
            <p:cNvPr id="100" name="Google Shape;100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98400" y="143300"/>
              <a:ext cx="1445600" cy="2011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328050"/>
            <a:ext cx="3055200" cy="24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Q: representation of current task at hand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K: representations of each word in the sentence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Helvetica Neue"/>
              <a:buChar char="●"/>
            </a:pPr>
            <a:r>
              <a:rPr lang="en" sz="1400">
                <a:latin typeface="Helvetica Neue"/>
                <a:ea typeface="Helvetica Neue"/>
                <a:cs typeface="Helvetica Neue"/>
                <a:sym typeface="Helvetica Neue"/>
              </a:rPr>
              <a:t>V: representations of the words in the sentence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7715" l="0" r="0" t="0"/>
          <a:stretch/>
        </p:blipFill>
        <p:spPr>
          <a:xfrm>
            <a:off x="7532700" y="2984848"/>
            <a:ext cx="1611300" cy="20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311700" y="4787025"/>
            <a:ext cx="279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193375" y="613200"/>
            <a:ext cx="4577700" cy="30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3 vectors from embedding: Query, keys, and values. Multiply each with weight matrices 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Calculating self-attention score: </a:t>
            </a:r>
            <a:b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→ dot product of Q and K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Division of scores by √d</a:t>
            </a:r>
            <a:r>
              <a:rPr baseline="-25000" lang="en" sz="1300"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, for stable gradients</a:t>
            </a:r>
            <a:b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→ dot product can result in large values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Pass through a softmax operation </a:t>
            </a:r>
            <a:b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→ to keep </a:t>
            </a: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variance</a:t>
            </a: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 sum stable (equal to 1).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Multiplication of value with softmax scores </a:t>
            </a:r>
            <a:b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→ drown-out irrelevant words.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SzPts val="1300"/>
              <a:buFont typeface="Helvetica Neue"/>
              <a:buAutoNum type="arabicPeriod"/>
            </a:pPr>
            <a:r>
              <a:rPr lang="en" sz="1300">
                <a:latin typeface="Helvetica Neue"/>
                <a:ea typeface="Helvetica Neue"/>
                <a:cs typeface="Helvetica Neue"/>
                <a:sym typeface="Helvetica Neue"/>
              </a:rPr>
              <a:t>Sum up the weighted value vectors.</a:t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1800" y="45901"/>
            <a:ext cx="4214424" cy="2939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8445" y="3246876"/>
            <a:ext cx="3039901" cy="15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-22943" y="4673027"/>
            <a:ext cx="53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6"/>
              </a:rPr>
              <a:t>https://web.stanford.edu/class/cs224n/readings/cs224n-self-attention-transformers-2023_draft.pdf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7"/>
              </a:rPr>
              <a:t>https://web.stanford.edu/~jurafsky/slp3/8.pdf</a:t>
            </a:r>
            <a:r>
              <a:rPr lang="en" sz="900"/>
              <a:t> </a:t>
            </a:r>
            <a:endParaRPr sz="900"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59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Self-attention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875"/>
            <a:ext cx="9144002" cy="49917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19"/>
          <p:cNvGrpSpPr/>
          <p:nvPr/>
        </p:nvGrpSpPr>
        <p:grpSpPr>
          <a:xfrm>
            <a:off x="1093800" y="3743700"/>
            <a:ext cx="1725300" cy="415500"/>
            <a:chOff x="1093800" y="3743700"/>
            <a:chExt cx="1725300" cy="415500"/>
          </a:xfrm>
        </p:grpSpPr>
        <p:sp>
          <p:nvSpPr>
            <p:cNvPr id="119" name="Google Shape;119;p19"/>
            <p:cNvSpPr txBox="1"/>
            <p:nvPr/>
          </p:nvSpPr>
          <p:spPr>
            <a:xfrm>
              <a:off x="1093800" y="3743700"/>
              <a:ext cx="872400" cy="415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Jessica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120" name="Google Shape;120;p19"/>
            <p:cNvCxnSpPr>
              <a:endCxn id="119" idx="3"/>
            </p:cNvCxnSpPr>
            <p:nvPr/>
          </p:nvCxnSpPr>
          <p:spPr>
            <a:xfrm flipH="1">
              <a:off x="1966200" y="3945450"/>
              <a:ext cx="852900" cy="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21" name="Google Shape;121;p19"/>
          <p:cNvGrpSpPr/>
          <p:nvPr/>
        </p:nvGrpSpPr>
        <p:grpSpPr>
          <a:xfrm>
            <a:off x="1057375" y="3036675"/>
            <a:ext cx="2556900" cy="415500"/>
            <a:chOff x="1057375" y="3036675"/>
            <a:chExt cx="2556900" cy="415500"/>
          </a:xfrm>
        </p:grpSpPr>
        <p:sp>
          <p:nvSpPr>
            <p:cNvPr id="122" name="Google Shape;122;p19"/>
            <p:cNvSpPr txBox="1"/>
            <p:nvPr/>
          </p:nvSpPr>
          <p:spPr>
            <a:xfrm>
              <a:off x="1057375" y="3036675"/>
              <a:ext cx="872400" cy="415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David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123" name="Google Shape;123;p19"/>
            <p:cNvCxnSpPr>
              <a:endCxn id="122" idx="3"/>
            </p:cNvCxnSpPr>
            <p:nvPr/>
          </p:nvCxnSpPr>
          <p:spPr>
            <a:xfrm flipH="1">
              <a:off x="1929775" y="3225525"/>
              <a:ext cx="1684500" cy="18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24" name="Google Shape;124;p19"/>
          <p:cNvGrpSpPr/>
          <p:nvPr/>
        </p:nvGrpSpPr>
        <p:grpSpPr>
          <a:xfrm>
            <a:off x="1057375" y="2075700"/>
            <a:ext cx="2492100" cy="415500"/>
            <a:chOff x="1057375" y="2075700"/>
            <a:chExt cx="2492100" cy="415500"/>
          </a:xfrm>
        </p:grpSpPr>
        <p:sp>
          <p:nvSpPr>
            <p:cNvPr id="125" name="Google Shape;125;p19"/>
            <p:cNvSpPr txBox="1"/>
            <p:nvPr/>
          </p:nvSpPr>
          <p:spPr>
            <a:xfrm>
              <a:off x="1057375" y="2075700"/>
              <a:ext cx="872400" cy="415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Kairong</a:t>
              </a:r>
              <a:endParaRPr sz="1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126" name="Google Shape;126;p19"/>
            <p:cNvCxnSpPr>
              <a:endCxn id="125" idx="3"/>
            </p:cNvCxnSpPr>
            <p:nvPr/>
          </p:nvCxnSpPr>
          <p:spPr>
            <a:xfrm flipH="1">
              <a:off x="1929775" y="2282250"/>
              <a:ext cx="1619700" cy="1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27" name="Google Shape;127;p19"/>
          <p:cNvGrpSpPr/>
          <p:nvPr/>
        </p:nvGrpSpPr>
        <p:grpSpPr>
          <a:xfrm>
            <a:off x="5521125" y="2311325"/>
            <a:ext cx="2662800" cy="1131396"/>
            <a:chOff x="5521125" y="2311325"/>
            <a:chExt cx="2662800" cy="1131396"/>
          </a:xfrm>
        </p:grpSpPr>
        <p:cxnSp>
          <p:nvCxnSpPr>
            <p:cNvPr id="128" name="Google Shape;128;p19"/>
            <p:cNvCxnSpPr/>
            <p:nvPr/>
          </p:nvCxnSpPr>
          <p:spPr>
            <a:xfrm>
              <a:off x="5521125" y="2311325"/>
              <a:ext cx="1731900" cy="911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29" name="Google Shape;129;p19"/>
            <p:cNvCxnSpPr>
              <a:endCxn id="130" idx="1"/>
            </p:cNvCxnSpPr>
            <p:nvPr/>
          </p:nvCxnSpPr>
          <p:spPr>
            <a:xfrm>
              <a:off x="5540625" y="3125171"/>
              <a:ext cx="1712400" cy="8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30" name="Google Shape;130;p19"/>
            <p:cNvSpPr txBox="1"/>
            <p:nvPr/>
          </p:nvSpPr>
          <p:spPr>
            <a:xfrm>
              <a:off x="7253025" y="2981021"/>
              <a:ext cx="930900" cy="461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Oswald"/>
                  <a:ea typeface="Oswald"/>
                  <a:cs typeface="Oswald"/>
                  <a:sym typeface="Oswald"/>
                </a:rPr>
                <a:t>Jian</a:t>
              </a:r>
              <a:endPara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31" name="Google Shape;131;p19"/>
          <p:cNvSpPr/>
          <p:nvPr/>
        </p:nvSpPr>
        <p:spPr>
          <a:xfrm>
            <a:off x="1360750" y="1145900"/>
            <a:ext cx="605400" cy="18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9157"/>
            <a:ext cx="8839200" cy="337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