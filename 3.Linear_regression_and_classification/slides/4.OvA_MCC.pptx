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Old Standard TT"/>
      <p:regular r:id="rId10"/>
      <p:bold r:id="rId11"/>
      <p: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bold.fntdata"/><Relationship Id="rId10" Type="http://schemas.openxmlformats.org/officeDocument/2006/relationships/font" Target="fonts/OldStandardTT-regular.fntdata"/><Relationship Id="rId12" Type="http://schemas.openxmlformats.org/officeDocument/2006/relationships/font" Target="fonts/OldStandardT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8a427501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8a427501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8a4275011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8a4275011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8a4275011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8a4275011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8a4275011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8a427501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8.png"/><Relationship Id="rId13" Type="http://schemas.openxmlformats.org/officeDocument/2006/relationships/image" Target="../media/image23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106200" y="417939"/>
            <a:ext cx="527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multiclass dataset consist of </a:t>
            </a:r>
            <a:r>
              <a:rPr i="1" lang="en" sz="1300">
                <a:solidFill>
                  <a:schemeClr val="dk1"/>
                </a:solidFill>
              </a:rPr>
              <a:t>C</a:t>
            </a:r>
            <a:r>
              <a:rPr lang="en" sz="1300">
                <a:solidFill>
                  <a:schemeClr val="dk1"/>
                </a:solidFill>
              </a:rPr>
              <a:t> different classes of data.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06200" y="3049500"/>
            <a:ext cx="6924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Run 2 class classification.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" sz="1300"/>
              <a:t>Decision boundary associated with 2-class classification: </a:t>
            </a:r>
            <a:endParaRPr sz="1300"/>
          </a:p>
        </p:txBody>
      </p:sp>
      <p:sp>
        <p:nvSpPr>
          <p:cNvPr id="61" name="Google Shape;61;p13"/>
          <p:cNvSpPr txBox="1"/>
          <p:nvPr/>
        </p:nvSpPr>
        <p:spPr>
          <a:xfrm>
            <a:off x="148725" y="-4589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One-versus-all multi-class classification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99" y="837475"/>
            <a:ext cx="1604850" cy="16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06200" y="2649300"/>
            <a:ext cx="86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 it possible to use 2-class classification model for this problem?</a:t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6608" y="1480698"/>
            <a:ext cx="741713" cy="10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674" y="902437"/>
            <a:ext cx="5532824" cy="148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3"/>
          <p:cNvGrpSpPr/>
          <p:nvPr/>
        </p:nvGrpSpPr>
        <p:grpSpPr>
          <a:xfrm>
            <a:off x="1894087" y="661886"/>
            <a:ext cx="1528163" cy="760344"/>
            <a:chOff x="1894087" y="661886"/>
            <a:chExt cx="1528163" cy="760344"/>
          </a:xfrm>
        </p:grpSpPr>
        <p:pic>
          <p:nvPicPr>
            <p:cNvPr id="67" name="Google Shape;67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94087" y="960531"/>
              <a:ext cx="1359036" cy="46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3"/>
            <p:cNvSpPr txBox="1"/>
            <p:nvPr/>
          </p:nvSpPr>
          <p:spPr>
            <a:xfrm>
              <a:off x="2063250" y="661886"/>
              <a:ext cx="135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" sz="1000"/>
                <a:t>Temporary</a:t>
              </a:r>
              <a:r>
                <a:rPr lang="en" sz="1000"/>
                <a:t> labels</a:t>
              </a:r>
              <a:endParaRPr sz="1000"/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8297" y="3420875"/>
            <a:ext cx="741725" cy="26819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97582" y="3756075"/>
            <a:ext cx="69249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Is it possible to combine all 3 classifiers?</a:t>
            </a:r>
            <a:endParaRPr sz="1300"/>
          </a:p>
          <a:p>
            <a:pPr indent="-311150" lvl="0" marL="914400" rtl="0" algn="l">
              <a:spcBef>
                <a:spcPts val="100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points that lie on the positive side of a single two-class classifier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points that lie on the positive side of more than one classifier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points that lie on the positive side of none of the classifiers.</a:t>
            </a:r>
            <a:endParaRPr sz="1300"/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97331" y="3236550"/>
            <a:ext cx="1510769" cy="14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0" l="68146" r="0" t="0"/>
          <a:stretch/>
        </p:blipFill>
        <p:spPr>
          <a:xfrm>
            <a:off x="7684851" y="2224575"/>
            <a:ext cx="1335273" cy="12799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106200" y="568025"/>
            <a:ext cx="722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points that lie solely on the positive side of the </a:t>
            </a:r>
            <a:r>
              <a:rPr i="1" lang="en">
                <a:solidFill>
                  <a:schemeClr val="dk1"/>
                </a:solidFill>
              </a:rPr>
              <a:t>j</a:t>
            </a:r>
            <a:r>
              <a:rPr baseline="30000" i="1" lang="en">
                <a:solidFill>
                  <a:schemeClr val="dk1"/>
                </a:solidFill>
              </a:rPr>
              <a:t>th</a:t>
            </a:r>
            <a:r>
              <a:rPr lang="en">
                <a:solidFill>
                  <a:schemeClr val="dk1"/>
                </a:solidFill>
              </a:rPr>
              <a:t> classifier only should clearly belong to the </a:t>
            </a:r>
            <a:r>
              <a:rPr i="1" lang="en">
                <a:solidFill>
                  <a:schemeClr val="dk1"/>
                </a:solidFill>
              </a:rPr>
              <a:t>j</a:t>
            </a:r>
            <a:r>
              <a:rPr baseline="30000" i="1" lang="en">
                <a:solidFill>
                  <a:schemeClr val="dk1"/>
                </a:solidFill>
              </a:rPr>
              <a:t>th</a:t>
            </a:r>
            <a:r>
              <a:rPr lang="en">
                <a:solidFill>
                  <a:schemeClr val="dk1"/>
                </a:solidFill>
              </a:rPr>
              <a:t> class.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77275" y="117875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1. Labeling points on the positive side of a single classifier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075" y="1226041"/>
            <a:ext cx="1603200" cy="3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0321" y="134112"/>
            <a:ext cx="1463904" cy="148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5025" y="1201966"/>
            <a:ext cx="1335277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77287" y="1715125"/>
            <a:ext cx="87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2. Labeling points on the positive side of more than one classifier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33123" t="0"/>
          <a:stretch/>
        </p:blipFill>
        <p:spPr>
          <a:xfrm>
            <a:off x="4828200" y="2224575"/>
            <a:ext cx="2803376" cy="12799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106200" y="2112325"/>
            <a:ext cx="497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Classification rule: assign each point to the class whose boundary is at the largest non-negative distance from it.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5" name="Google Shape;85;p14"/>
          <p:cNvGrpSpPr/>
          <p:nvPr/>
        </p:nvGrpSpPr>
        <p:grpSpPr>
          <a:xfrm>
            <a:off x="106200" y="2902279"/>
            <a:ext cx="8968500" cy="2164514"/>
            <a:chOff x="106200" y="2963511"/>
            <a:chExt cx="8968500" cy="2164514"/>
          </a:xfrm>
        </p:grpSpPr>
        <p:pic>
          <p:nvPicPr>
            <p:cNvPr id="86" name="Google Shape;86;p1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65725" y="2963511"/>
              <a:ext cx="2755650" cy="5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4"/>
            <p:cNvSpPr txBox="1"/>
            <p:nvPr/>
          </p:nvSpPr>
          <p:spPr>
            <a:xfrm>
              <a:off x="106200" y="3434825"/>
              <a:ext cx="89685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/>
                <a:t>N</a:t>
              </a:r>
              <a:r>
                <a:rPr lang="en"/>
                <a:t>ormalize the weights of each linear classifier by the length of its normal vector as</a:t>
              </a:r>
              <a:br>
                <a:rPr lang="en"/>
              </a:br>
              <a:br>
                <a:rPr lang="en"/>
              </a:br>
              <a:endParaRPr/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/>
                <a:t>then this distance is simply written as the raw evaluation of the point via the decision boundary as</a:t>
              </a:r>
              <a:br>
                <a:rPr lang="en"/>
              </a:br>
              <a:br>
                <a:rPr lang="en"/>
              </a:br>
              <a:endParaRPr/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/>
                <a:t>To assign a point in one of our current regions we seek out the classifier which maximizes this quantity.</a:t>
              </a:r>
              <a:endParaRPr/>
            </a:p>
          </p:txBody>
        </p:sp>
        <p:pic>
          <p:nvPicPr>
            <p:cNvPr id="88" name="Google Shape;88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548740" y="3722436"/>
              <a:ext cx="791784" cy="47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06925" y="4481525"/>
              <a:ext cx="2755649" cy="2589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291600" y="117875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3. Labeling points on the positive side of no classifier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189600" y="579575"/>
            <a:ext cx="45195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</a:t>
            </a:r>
            <a:r>
              <a:rPr lang="en"/>
              <a:t>annot find that one classifier is more confident in the class identity of such points.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Look at the least sure → closet decision boundary</a:t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099" y="516626"/>
            <a:ext cx="4404123" cy="13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9519" y="2239249"/>
            <a:ext cx="1608178" cy="162481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275400" y="1914475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Combining all 3 cases together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89600" y="2307500"/>
            <a:ext cx="7137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</a:t>
            </a:r>
            <a:r>
              <a:rPr lang="en"/>
              <a:t>he single rule for assigning a label </a:t>
            </a:r>
            <a:r>
              <a:rPr i="1" lang="en"/>
              <a:t>y</a:t>
            </a:r>
            <a:r>
              <a:rPr lang="en"/>
              <a:t> to a point </a:t>
            </a:r>
            <a:r>
              <a:rPr i="1" lang="en"/>
              <a:t>x</a:t>
            </a:r>
            <a:r>
              <a:rPr lang="en"/>
              <a:t>: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Fusion rule: </a:t>
            </a:r>
            <a:r>
              <a:rPr lang="en"/>
              <a:t>assigns the label based on the maximum signed distance of this point to each classifier.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3925" y="2371641"/>
            <a:ext cx="133527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2125" y="3058679"/>
            <a:ext cx="4119748" cy="19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 rot="-5400950">
            <a:off x="-310249" y="4256380"/>
            <a:ext cx="10857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highlight>
                  <a:schemeClr val="lt1"/>
                </a:highlight>
              </a:rPr>
              <a:t>TPR = TP/(TP+FN)</a:t>
            </a:r>
            <a:endParaRPr sz="800">
              <a:highlight>
                <a:schemeClr val="lt1"/>
              </a:highlight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66782" y="4741945"/>
            <a:ext cx="10557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FPR=FP/(FP+TN)</a:t>
            </a:r>
            <a:endParaRPr sz="800"/>
          </a:p>
        </p:txBody>
      </p:sp>
      <p:sp>
        <p:nvSpPr>
          <p:cNvPr id="108" name="Google Shape;108;p16"/>
          <p:cNvSpPr txBox="1"/>
          <p:nvPr/>
        </p:nvSpPr>
        <p:spPr>
          <a:xfrm>
            <a:off x="138520" y="66848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Classification Evaluation Metrics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89600" y="486508"/>
            <a:ext cx="66414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</a:t>
            </a:r>
            <a:r>
              <a:rPr lang="en"/>
              <a:t>redict the label </a:t>
            </a:r>
            <a:r>
              <a:rPr i="1" lang="en"/>
              <a:t>y</a:t>
            </a:r>
            <a:r>
              <a:rPr lang="en"/>
              <a:t> of an input </a:t>
            </a:r>
            <a:r>
              <a:rPr i="1" lang="en"/>
              <a:t>x</a:t>
            </a:r>
            <a:r>
              <a:rPr lang="en"/>
              <a:t>, fusion rule: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Points on the decision boundary should be assigned a label randomly, based on the classifiers with the highest evaluation scores.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545" y="567544"/>
            <a:ext cx="1330650" cy="3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152" y="1970143"/>
            <a:ext cx="276319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651" y="1908089"/>
            <a:ext cx="1330650" cy="42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641" y="2700462"/>
            <a:ext cx="2745652" cy="105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4634" y="63650"/>
            <a:ext cx="2687065" cy="193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291600" y="1380780"/>
            <a:ext cx="357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Accuracy: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179341" y="2287981"/>
            <a:ext cx="357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Confusion matrix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47304" y="1411814"/>
            <a:ext cx="174192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74649" y="1454730"/>
            <a:ext cx="2071675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4605288" y="1885842"/>
            <a:ext cx="44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→ Can be </a:t>
            </a:r>
            <a:r>
              <a:rPr lang="en" sz="1200">
                <a:solidFill>
                  <a:schemeClr val="dk1"/>
                </a:solidFill>
              </a:rPr>
              <a:t>misleading if classes are unbalanced.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1419414" y="2614907"/>
            <a:ext cx="969300" cy="400450"/>
            <a:chOff x="1816500" y="3342975"/>
            <a:chExt cx="969300" cy="400450"/>
          </a:xfrm>
        </p:grpSpPr>
        <p:cxnSp>
          <p:nvCxnSpPr>
            <p:cNvPr id="121" name="Google Shape;121;p16"/>
            <p:cNvCxnSpPr/>
            <p:nvPr/>
          </p:nvCxnSpPr>
          <p:spPr>
            <a:xfrm rot="10800000">
              <a:off x="2190300" y="3544825"/>
              <a:ext cx="595500" cy="19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22" name="Google Shape;122;p16"/>
            <p:cNvSpPr txBox="1"/>
            <p:nvPr/>
          </p:nvSpPr>
          <p:spPr>
            <a:xfrm>
              <a:off x="1816500" y="3342975"/>
              <a:ext cx="497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FP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2208800" y="3185652"/>
            <a:ext cx="1514773" cy="561791"/>
            <a:chOff x="1074439" y="3229277"/>
            <a:chExt cx="1168897" cy="433548"/>
          </a:xfrm>
        </p:grpSpPr>
        <p:cxnSp>
          <p:nvCxnSpPr>
            <p:cNvPr id="124" name="Google Shape;124;p16"/>
            <p:cNvCxnSpPr/>
            <p:nvPr/>
          </p:nvCxnSpPr>
          <p:spPr>
            <a:xfrm>
              <a:off x="1074439" y="3229277"/>
              <a:ext cx="802200" cy="256200"/>
            </a:xfrm>
            <a:prstGeom prst="straightConnector1">
              <a:avLst/>
            </a:prstGeom>
            <a:noFill/>
            <a:ln cap="flat" cmpd="sng" w="12350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25" name="Google Shape;125;p16"/>
            <p:cNvSpPr txBox="1"/>
            <p:nvPr/>
          </p:nvSpPr>
          <p:spPr>
            <a:xfrm>
              <a:off x="1745636" y="3293525"/>
              <a:ext cx="497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475" lIns="118475" spcFirstLastPara="1" rIns="118475" wrap="square" tIns="11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5">
                  <a:solidFill>
                    <a:schemeClr val="dk1"/>
                  </a:solidFill>
                </a:rPr>
                <a:t>FN</a:t>
              </a:r>
              <a:endParaRPr sz="1125">
                <a:solidFill>
                  <a:schemeClr val="dk1"/>
                </a:solidFill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329258" y="2535573"/>
            <a:ext cx="5349457" cy="407829"/>
            <a:chOff x="4290950" y="3102325"/>
            <a:chExt cx="5349457" cy="407829"/>
          </a:xfrm>
        </p:grpSpPr>
        <p:pic>
          <p:nvPicPr>
            <p:cNvPr id="127" name="Google Shape;127;p1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290950" y="3102325"/>
              <a:ext cx="1815500" cy="4078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 txBox="1"/>
            <p:nvPr/>
          </p:nvSpPr>
          <p:spPr>
            <a:xfrm>
              <a:off x="6005907" y="3133946"/>
              <a:ext cx="36345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U</a:t>
              </a:r>
              <a:r>
                <a:rPr lang="en" sz="1100"/>
                <a:t>seful in cases where FP are costly. </a:t>
              </a:r>
              <a:endParaRPr sz="1100"/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3375247" y="2898056"/>
            <a:ext cx="5322107" cy="369300"/>
            <a:chOff x="4318325" y="3557875"/>
            <a:chExt cx="5322107" cy="369300"/>
          </a:xfrm>
        </p:grpSpPr>
        <p:pic>
          <p:nvPicPr>
            <p:cNvPr id="130" name="Google Shape;130;p16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318325" y="3557875"/>
              <a:ext cx="1752505" cy="36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6"/>
            <p:cNvSpPr txBox="1"/>
            <p:nvPr/>
          </p:nvSpPr>
          <p:spPr>
            <a:xfrm>
              <a:off x="5999932" y="3561594"/>
              <a:ext cx="36405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Useful in cases where FN is of higher concern than FP.</a:t>
              </a:r>
              <a:endParaRPr sz="1100"/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3620780" y="3239650"/>
            <a:ext cx="5523270" cy="380856"/>
            <a:chOff x="4514223" y="3862242"/>
            <a:chExt cx="5523270" cy="380856"/>
          </a:xfrm>
        </p:grpSpPr>
        <p:pic>
          <p:nvPicPr>
            <p:cNvPr id="133" name="Google Shape;133;p16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514223" y="4004123"/>
              <a:ext cx="1330651" cy="238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6"/>
            <p:cNvSpPr txBox="1"/>
            <p:nvPr/>
          </p:nvSpPr>
          <p:spPr>
            <a:xfrm>
              <a:off x="5956293" y="3862242"/>
              <a:ext cx="4081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/>
                <a:t>Useful When you want a balance between precision and recall.</a:t>
              </a:r>
              <a:endParaRPr sz="1100"/>
            </a:p>
          </p:txBody>
        </p:sp>
      </p:grpSp>
      <p:pic>
        <p:nvPicPr>
          <p:cNvPr id="135" name="Google Shape;135;p16"/>
          <p:cNvPicPr preferRelativeResize="0"/>
          <p:nvPr/>
        </p:nvPicPr>
        <p:blipFill rotWithShape="1">
          <a:blip r:embed="rId13">
            <a:alphaModFix/>
          </a:blip>
          <a:srcRect b="9999" l="18936" r="0" t="0"/>
          <a:stretch/>
        </p:blipFill>
        <p:spPr>
          <a:xfrm>
            <a:off x="291600" y="3830800"/>
            <a:ext cx="1227874" cy="100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178850" y="3859461"/>
            <a:ext cx="79230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</a:t>
            </a:r>
            <a:r>
              <a:rPr lang="en" sz="1100"/>
              <a:t>hows how good the model is at telling the difference between the two classes by plotting.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Receiver Operating Characteristics Curve: Plots TPR vs. FPR across thresholds, showing the trade-off between sensitivity (recall) and specificity (TN/(TN+FP)). FPR=(1-</a:t>
            </a:r>
            <a:r>
              <a:rPr lang="en" sz="1100">
                <a:solidFill>
                  <a:schemeClr val="dk1"/>
                </a:solidFill>
              </a:rPr>
              <a:t>specificity</a:t>
            </a:r>
            <a:r>
              <a:rPr lang="en" sz="1100"/>
              <a:t>)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1000"/>
              </a:spcAft>
              <a:buSzPts val="1100"/>
              <a:buChar char="●"/>
            </a:pPr>
            <a:r>
              <a:rPr lang="en" sz="1100"/>
              <a:t>Area Under the Curve: Higher AUC indicates better class separation; 1.0 is perfect, 0.5 is random guessing.</a:t>
            </a:r>
            <a:endParaRPr sz="1100"/>
          </a:p>
        </p:txBody>
      </p:sp>
      <p:sp>
        <p:nvSpPr>
          <p:cNvPr id="137" name="Google Shape;137;p16"/>
          <p:cNvSpPr txBox="1"/>
          <p:nvPr/>
        </p:nvSpPr>
        <p:spPr>
          <a:xfrm>
            <a:off x="1458538" y="4833275"/>
            <a:ext cx="301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https://www.geeksforgeeks.org/machine-learning/auc-roc-curve/</a:t>
            </a:r>
            <a:endParaRPr sz="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