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embeddedFontLst>
    <p:embeddedFont>
      <p:font typeface="Old Standard TT"/>
      <p:regular r:id="rId8"/>
      <p:bold r:id="rId9"/>
      <p:italic r:id="rId1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font" Target="fonts/OldStandardTT-italic.fntdata"/><Relationship Id="rId9" Type="http://schemas.openxmlformats.org/officeDocument/2006/relationships/font" Target="fonts/OldStandardTT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font" Target="fonts/OldStandardTT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3f8703d33e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3f8703d33e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7e334a9a18_1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7e334a9a18_1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100"/>
            <a:ext cx="9144000" cy="1711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" name="Google Shape;11;p2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" name="Google Shape;12;p2"/>
          <p:cNvSpPr txBox="1"/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Google Shape;16;p3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" name="Google Shape;17;p3"/>
          <p:cNvSpPr txBox="1"/>
          <p:nvPr>
            <p:ph type="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6864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039650"/>
            <a:ext cx="8520600" cy="21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perback">
    <p:bg>
      <p:bgPr>
        <a:solidFill>
          <a:schemeClr val="accen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ld Standard TT"/>
              <a:buChar char="●"/>
              <a:defRPr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gif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37475" y="215800"/>
            <a:ext cx="3921650" cy="21454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0" name="Google Shape;60;p13"/>
          <p:cNvGrpSpPr/>
          <p:nvPr/>
        </p:nvGrpSpPr>
        <p:grpSpPr>
          <a:xfrm>
            <a:off x="0" y="0"/>
            <a:ext cx="5137475" cy="2355207"/>
            <a:chOff x="0" y="0"/>
            <a:chExt cx="5137475" cy="2355207"/>
          </a:xfrm>
        </p:grpSpPr>
        <p:pic>
          <p:nvPicPr>
            <p:cNvPr id="61" name="Google Shape;61;p13"/>
            <p:cNvPicPr preferRelativeResize="0"/>
            <p:nvPr/>
          </p:nvPicPr>
          <p:blipFill rotWithShape="1">
            <a:blip r:embed="rId4">
              <a:alphaModFix/>
            </a:blip>
            <a:srcRect b="92128" l="0" r="0" t="0"/>
            <a:stretch/>
          </p:blipFill>
          <p:spPr>
            <a:xfrm>
              <a:off x="0" y="0"/>
              <a:ext cx="5137475" cy="215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2" name="Google Shape;62;p13"/>
            <p:cNvPicPr preferRelativeResize="0"/>
            <p:nvPr/>
          </p:nvPicPr>
          <p:blipFill rotWithShape="1">
            <a:blip r:embed="rId4">
              <a:alphaModFix/>
            </a:blip>
            <a:srcRect b="0" l="0" r="0" t="21746"/>
            <a:stretch/>
          </p:blipFill>
          <p:spPr>
            <a:xfrm>
              <a:off x="0" y="209733"/>
              <a:ext cx="5137475" cy="21454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3" name="Google Shape;63;p13"/>
          <p:cNvSpPr txBox="1"/>
          <p:nvPr/>
        </p:nvSpPr>
        <p:spPr>
          <a:xfrm>
            <a:off x="95075" y="2478015"/>
            <a:ext cx="89640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Prevents overfitting and approximately combining exponentially many neural network architectures </a:t>
            </a:r>
            <a:r>
              <a:rPr lang="en" sz="1300">
                <a:solidFill>
                  <a:schemeClr val="dk1"/>
                </a:solidFill>
              </a:rPr>
              <a:t>efficiently</a:t>
            </a:r>
            <a:r>
              <a:rPr lang="en" sz="1300">
                <a:solidFill>
                  <a:schemeClr val="dk1"/>
                </a:solidFill>
              </a:rPr>
              <a:t>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Randomly dropping out units (neurons) from input and hidden layers.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Each unit is retained with a fixed probability </a:t>
            </a:r>
            <a:r>
              <a:rPr i="1" lang="en" sz="1300">
                <a:solidFill>
                  <a:schemeClr val="dk1"/>
                </a:solidFill>
              </a:rPr>
              <a:t>p</a:t>
            </a:r>
            <a:r>
              <a:rPr lang="en" sz="1300">
                <a:solidFill>
                  <a:schemeClr val="dk1"/>
                </a:solidFill>
              </a:rPr>
              <a:t> (hyperparameter) independent of other units.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Neurons trained with dropout cannot co-adapt with their neighboring neurons; they have to be as useful as possible on their own.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64" name="Google Shape;64;p13"/>
          <p:cNvSpPr txBox="1"/>
          <p:nvPr/>
        </p:nvSpPr>
        <p:spPr>
          <a:xfrm>
            <a:off x="95075" y="4020725"/>
            <a:ext cx="8763600" cy="10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Applying dropout = sampling a “thinned” network</a:t>
            </a:r>
            <a:endParaRPr sz="1300"/>
          </a:p>
          <a:p>
            <a:pPr indent="-311150" lvl="0" marL="457200" rtl="0" algn="l">
              <a:spcBef>
                <a:spcPts val="100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Thinned network includes only the units that survive dropout. 2</a:t>
            </a:r>
            <a:r>
              <a:rPr baseline="30000" lang="en" sz="1300"/>
              <a:t>n</a:t>
            </a:r>
            <a:r>
              <a:rPr lang="en" sz="1300"/>
              <a:t> possible thinned NN.</a:t>
            </a:r>
            <a:endParaRPr sz="1300"/>
          </a:p>
          <a:p>
            <a:pPr indent="-311150" lvl="0" marL="457200" rtl="0" algn="l">
              <a:spcBef>
                <a:spcPts val="1000"/>
              </a:spcBef>
              <a:spcAft>
                <a:spcPts val="1000"/>
              </a:spcAft>
              <a:buSzPts val="1300"/>
              <a:buChar char="●"/>
            </a:pPr>
            <a:r>
              <a:rPr lang="en" sz="1300"/>
              <a:t>All thinned networks share weights and each individual network is trained rarely (if at all).</a:t>
            </a:r>
            <a:endParaRPr sz="13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4" title="112801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21925" y="1870025"/>
            <a:ext cx="3995925" cy="2630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46872" y="278900"/>
            <a:ext cx="4670974" cy="132450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4"/>
          <p:cNvSpPr txBox="1"/>
          <p:nvPr/>
        </p:nvSpPr>
        <p:spPr>
          <a:xfrm>
            <a:off x="126775" y="278900"/>
            <a:ext cx="4754100" cy="32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Explicitly averaging 2</a:t>
            </a:r>
            <a:r>
              <a:rPr baseline="30000" lang="en" sz="1300"/>
              <a:t>n</a:t>
            </a:r>
            <a:r>
              <a:rPr lang="en" sz="1300"/>
              <a:t> thinned networks is infeasible</a:t>
            </a:r>
            <a:endParaRPr sz="1300"/>
          </a:p>
          <a:p>
            <a:pPr indent="-311150" lvl="0" marL="457200" rtl="0" algn="l">
              <a:spcBef>
                <a:spcPts val="100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Approximate averaging: use a single network without dropout</a:t>
            </a:r>
            <a:endParaRPr sz="1300"/>
          </a:p>
          <a:p>
            <a:pPr indent="-311150" lvl="0" marL="457200" rtl="0" algn="l">
              <a:spcBef>
                <a:spcPts val="100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Scale weights:</a:t>
            </a:r>
            <a:endParaRPr sz="1300"/>
          </a:p>
          <a:p>
            <a:pPr indent="-311150" lvl="1" marL="914400" rtl="0" algn="l">
              <a:spcBef>
                <a:spcPts val="100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If a unit is retained with probability 𝑝 during training</a:t>
            </a:r>
            <a:endParaRPr sz="1300"/>
          </a:p>
          <a:p>
            <a:pPr indent="-311150" lvl="1" marL="914400" rtl="0" algn="l">
              <a:spcBef>
                <a:spcPts val="100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Multiply its outgoing weights by 𝑝 at test time</a:t>
            </a:r>
            <a:endParaRPr sz="1300"/>
          </a:p>
          <a:p>
            <a:pPr indent="-311150" lvl="0" marL="457200" rtl="0" algn="l">
              <a:spcBef>
                <a:spcPts val="100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This maintains the expected activation of each unit</a:t>
            </a:r>
            <a:endParaRPr sz="1300"/>
          </a:p>
          <a:p>
            <a:pPr indent="-311150" lvl="0" marL="457200" rtl="0" algn="l">
              <a:spcBef>
                <a:spcPts val="100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Combines all thinned networks into one effective model</a:t>
            </a:r>
            <a:endParaRPr sz="1300"/>
          </a:p>
          <a:p>
            <a:pPr indent="-311150" lvl="0" marL="457200" rtl="0" algn="l">
              <a:spcBef>
                <a:spcPts val="1000"/>
              </a:spcBef>
              <a:spcAft>
                <a:spcPts val="1000"/>
              </a:spcAft>
              <a:buSzPts val="1300"/>
              <a:buChar char="●"/>
            </a:pPr>
            <a:r>
              <a:rPr lang="en" sz="1300"/>
              <a:t>Result: Lower generalization error vs. other regularization methods</a:t>
            </a:r>
            <a:endParaRPr sz="1300"/>
          </a:p>
        </p:txBody>
      </p:sp>
      <p:sp>
        <p:nvSpPr>
          <p:cNvPr id="72" name="Google Shape;72;p14"/>
          <p:cNvSpPr txBox="1"/>
          <p:nvPr/>
        </p:nvSpPr>
        <p:spPr>
          <a:xfrm>
            <a:off x="126775" y="3701600"/>
            <a:ext cx="54471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Additionally the thinned network can be combined with other regularization networks.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Slow down convergence, but result in better model.</a:t>
            </a:r>
            <a:endParaRPr sz="13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Paperback">
  <a:themeElements>
    <a:clrScheme name="Paperback">
      <a:dk1>
        <a:srgbClr val="000000"/>
      </a:dk1>
      <a:lt1>
        <a:srgbClr val="FFFFFF"/>
      </a:lt1>
      <a:dk2>
        <a:srgbClr val="00695C"/>
      </a:dk2>
      <a:lt2>
        <a:srgbClr val="26A69A"/>
      </a:lt2>
      <a:accent1>
        <a:srgbClr val="FFFBF0"/>
      </a:accent1>
      <a:accent2>
        <a:srgbClr val="B7B7B7"/>
      </a:accent2>
      <a:accent3>
        <a:srgbClr val="FB8C00"/>
      </a:accent3>
      <a:accent4>
        <a:srgbClr val="80CBC4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