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Old Standard TT"/>
      <p:regular r:id="rId10"/>
      <p:bold r:id="rId11"/>
      <p:italic r:id="rId12"/>
    </p:embeddedFon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ldStandardTT-bold.fntdata"/><Relationship Id="rId10" Type="http://schemas.openxmlformats.org/officeDocument/2006/relationships/font" Target="fonts/OldStandardTT-regular.fntdata"/><Relationship Id="rId13" Type="http://schemas.openxmlformats.org/officeDocument/2006/relationships/font" Target="fonts/HelveticaNeue-regular.fntdata"/><Relationship Id="rId12" Type="http://schemas.openxmlformats.org/officeDocument/2006/relationships/font" Target="fonts/OldStandardT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c0abea5a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c0abea5a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69b05b0f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69b05b0f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71ce05dd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71ce05dd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dec4470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dec4470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71ce05ddf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71ce05ddf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hyperlink" Target="https://www.sciencedirect.com/science/article/pii/S2666389924001880?via%3Dihub" TargetMode="External"/><Relationship Id="rId5" Type="http://schemas.openxmlformats.org/officeDocument/2006/relationships/hyperlink" Target="https://www.sciencedirect.com/science/article/pii/S2666389924001880?via%3Dihub" TargetMode="External"/><Relationship Id="rId6" Type="http://schemas.openxmlformats.org/officeDocument/2006/relationships/hyperlink" Target="https://www.sciencedirect.com/science/article/pii/S2666389924001880?via%3Dihub" TargetMode="External"/><Relationship Id="rId7" Type="http://schemas.openxmlformats.org/officeDocument/2006/relationships/hyperlink" Target="https://www.sciencedirect.com/science/article/pii/S2666389924001880?via%3Dihub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ciencedirect.com/science/article/pii/S2666389924001880?via%3Dihub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4294967295" type="ctrTitle"/>
          </p:nvPr>
        </p:nvSpPr>
        <p:spPr>
          <a:xfrm>
            <a:off x="1735350" y="2053650"/>
            <a:ext cx="5673300" cy="10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latin typeface="Helvetica Neue"/>
                <a:ea typeface="Helvetica Neue"/>
                <a:cs typeface="Helvetica Neue"/>
                <a:sym typeface="Helvetica Neue"/>
              </a:rPr>
              <a:t>Machine Learning</a:t>
            </a:r>
            <a:endParaRPr sz="3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latin typeface="Helvetica Neue"/>
                <a:ea typeface="Helvetica Neue"/>
                <a:cs typeface="Helvetica Neue"/>
                <a:sym typeface="Helvetica Neue"/>
              </a:rPr>
              <a:t>Review</a:t>
            </a:r>
            <a:endParaRPr sz="3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9504"/>
            <a:ext cx="8839204" cy="418222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learning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34050" y="4663850"/>
            <a:ext cx="656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Lones et al. Patterns </a:t>
            </a:r>
            <a:r>
              <a:rPr b="1" lang="en" u="sng">
                <a:solidFill>
                  <a:schemeClr val="hlink"/>
                </a:solidFill>
                <a:hlinkClick r:id="rId5"/>
              </a:rPr>
              <a:t>5</a:t>
            </a:r>
            <a:r>
              <a:rPr lang="en" u="sng">
                <a:solidFill>
                  <a:schemeClr val="hlink"/>
                </a:solidFill>
                <a:hlinkClick r:id="rId6"/>
              </a:rPr>
              <a:t> (</a:t>
            </a:r>
            <a:r>
              <a:rPr lang="en" u="sng">
                <a:solidFill>
                  <a:schemeClr val="hlink"/>
                </a:solidFill>
                <a:hlinkClick r:id="rId7"/>
              </a:rPr>
              <a:t>10), 2024.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25" y="0"/>
            <a:ext cx="4835901" cy="20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863" y="2654775"/>
            <a:ext cx="1548575" cy="2154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8575" y="197162"/>
            <a:ext cx="4506574" cy="46554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180275" y="2151031"/>
            <a:ext cx="43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mechanism relating different position of a sequence in order to compute representation of a </a:t>
            </a:r>
            <a:r>
              <a:rPr lang="en" sz="1200">
                <a:solidFill>
                  <a:schemeClr val="dk1"/>
                </a:solidFill>
              </a:rPr>
              <a:t>sequence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175" y="2713208"/>
            <a:ext cx="1445600" cy="20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7262" r="1496" t="0"/>
          <a:stretch/>
        </p:blipFill>
        <p:spPr>
          <a:xfrm>
            <a:off x="36526" y="0"/>
            <a:ext cx="5322601" cy="31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5149820" y="203593"/>
            <a:ext cx="3795900" cy="13392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Positional encoding: in order for the model to make use of the order of the sequence. 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900">
                <a:solidFill>
                  <a:schemeClr val="dk1"/>
                </a:solidFill>
              </a:rPr>
            </a:br>
            <a:br>
              <a:rPr lang="en" sz="900">
                <a:solidFill>
                  <a:schemeClr val="dk1"/>
                </a:solidFill>
              </a:rPr>
            </a:br>
            <a:br>
              <a:rPr lang="en" sz="9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– takes the form of </a:t>
            </a:r>
            <a:r>
              <a:rPr lang="en" sz="1200">
                <a:solidFill>
                  <a:schemeClr val="dk1"/>
                </a:solidFill>
              </a:rPr>
              <a:t>geometric</a:t>
            </a:r>
            <a:r>
              <a:rPr lang="en" sz="1200">
                <a:solidFill>
                  <a:schemeClr val="dk1"/>
                </a:solidFill>
              </a:rPr>
              <a:t> progression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8520" y="704192"/>
            <a:ext cx="2618500" cy="5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30267" r="30342" t="0"/>
          <a:stretch/>
        </p:blipFill>
        <p:spPr>
          <a:xfrm>
            <a:off x="919150" y="0"/>
            <a:ext cx="3169500" cy="4392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16"/>
          <p:cNvGrpSpPr/>
          <p:nvPr/>
        </p:nvGrpSpPr>
        <p:grpSpPr>
          <a:xfrm>
            <a:off x="4247125" y="2064000"/>
            <a:ext cx="4825500" cy="2103600"/>
            <a:chOff x="4247125" y="2064000"/>
            <a:chExt cx="4825500" cy="2103600"/>
          </a:xfrm>
        </p:grpSpPr>
        <p:sp>
          <p:nvSpPr>
            <p:cNvPr id="85" name="Google Shape;85;p16"/>
            <p:cNvSpPr txBox="1"/>
            <p:nvPr/>
          </p:nvSpPr>
          <p:spPr>
            <a:xfrm>
              <a:off x="4247125" y="2064000"/>
              <a:ext cx="4825500" cy="2103600"/>
            </a:xfrm>
            <a:prstGeom prst="rect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n" sz="1200">
                  <a:solidFill>
                    <a:schemeClr val="dk1"/>
                  </a:solidFill>
                </a:rPr>
                <a:t>Residual connection:</a:t>
              </a:r>
              <a:br>
                <a:rPr lang="en" sz="1200">
                  <a:solidFill>
                    <a:schemeClr val="dk1"/>
                  </a:solidFill>
                </a:rPr>
              </a:br>
              <a:r>
                <a:rPr lang="en" sz="1200">
                  <a:solidFill>
                    <a:schemeClr val="dk1"/>
                  </a:solidFill>
                </a:rPr>
                <a:t>– Forward pass </a:t>
              </a:r>
              <a:r>
                <a:rPr lang="en" sz="1200">
                  <a:solidFill>
                    <a:schemeClr val="dk1"/>
                  </a:solidFill>
                </a:rPr>
                <a:t>signal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– Vanishing gradients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n" sz="1200">
                  <a:solidFill>
                    <a:schemeClr val="dk1"/>
                  </a:solidFill>
                </a:rPr>
                <a:t>LayerNorm: play important role in </a:t>
              </a:r>
              <a:r>
                <a:rPr lang="en" sz="1200">
                  <a:solidFill>
                    <a:schemeClr val="dk1"/>
                  </a:solidFill>
                </a:rPr>
                <a:t>controlling</a:t>
              </a:r>
              <a:r>
                <a:rPr lang="en" sz="1200">
                  <a:solidFill>
                    <a:schemeClr val="dk1"/>
                  </a:solidFill>
                </a:rPr>
                <a:t> </a:t>
              </a:r>
              <a:r>
                <a:rPr lang="en" sz="1200">
                  <a:solidFill>
                    <a:schemeClr val="dk1"/>
                  </a:solidFill>
                </a:rPr>
                <a:t>gradient</a:t>
              </a:r>
              <a:r>
                <a:rPr lang="en" sz="1200">
                  <a:solidFill>
                    <a:schemeClr val="dk1"/>
                  </a:solidFill>
                </a:rPr>
                <a:t> scales.</a:t>
              </a:r>
              <a:br>
                <a:rPr lang="en" sz="1200">
                  <a:solidFill>
                    <a:schemeClr val="dk1"/>
                  </a:solidFill>
                </a:rPr>
              </a:br>
              <a:br>
                <a:rPr lang="en" sz="1200">
                  <a:solidFill>
                    <a:schemeClr val="dk1"/>
                  </a:solidFill>
                </a:rPr>
              </a:br>
              <a:br>
                <a:rPr lang="en" sz="1200">
                  <a:solidFill>
                    <a:schemeClr val="dk1"/>
                  </a:solidFill>
                </a:rPr>
              </a:br>
              <a:r>
                <a:rPr lang="en" sz="1200">
                  <a:solidFill>
                    <a:schemeClr val="dk1"/>
                  </a:solidFill>
                </a:rPr>
                <a:t> 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n" sz="1200">
                  <a:solidFill>
                    <a:schemeClr val="dk1"/>
                  </a:solidFill>
                </a:rPr>
                <a:t>FFN: applied to each position separately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– perform non-linear feature transformation</a:t>
              </a:r>
              <a:endParaRPr sz="1200">
                <a:solidFill>
                  <a:schemeClr val="dk1"/>
                </a:solidFill>
              </a:endParaRPr>
            </a:p>
          </p:txBody>
        </p:sp>
        <p:pic>
          <p:nvPicPr>
            <p:cNvPr id="86" name="Google Shape;86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20523" y="3020900"/>
              <a:ext cx="1846226" cy="62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051400"/>
            <a:ext cx="8520600" cy="6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4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p1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838" y="101375"/>
            <a:ext cx="6940324" cy="190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