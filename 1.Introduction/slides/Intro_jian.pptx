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2" r:id="rId5"/>
    <p:sldId id="261" r:id="rId6"/>
    <p:sldId id="268" r:id="rId7"/>
    <p:sldId id="267" r:id="rId8"/>
    <p:sldId id="263" r:id="rId9"/>
    <p:sldId id="264" r:id="rId10"/>
    <p:sldId id="265" r:id="rId11"/>
    <p:sldId id="26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8"/>
    <p:restoredTop sz="94737"/>
  </p:normalViewPr>
  <p:slideViewPr>
    <p:cSldViewPr snapToGrid="0">
      <p:cViewPr varScale="1">
        <p:scale>
          <a:sx n="112" d="100"/>
          <a:sy n="112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CA5F0-2F95-1B4E-A5EC-9596D09E3F1A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EB689-7F78-474A-97B0-E5ECE2AA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2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towardsdatascience.com</a:t>
            </a:r>
            <a:r>
              <a:rPr lang="en-US" dirty="0"/>
              <a:t>/creating-a-multilayer-perceptron-mlp-classifier-model-to-identify-handwritten-digits-9bac1b16fe10/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EB689-7F78-474A-97B0-E5ECE2AA17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59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4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F735-DAE8-694E-B8BB-96D15AF276D3}" type="datetimeFigureOut">
              <a:rPr lang="en-US" smtClean="0"/>
              <a:t>9/12/25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B54F-D4AC-494F-8479-71E63F2E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F735-DAE8-694E-B8BB-96D15AF276D3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B54F-D4AC-494F-8479-71E63F2E6C1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107949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27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F735-DAE8-694E-B8BB-96D15AF276D3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B54F-D4AC-494F-8479-71E63F2E6C1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B023FA78-5B4A-5024-AA6E-57E0F200B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107949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F735-DAE8-694E-B8BB-96D15AF276D3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B54F-D4AC-494F-8479-71E63F2E6C1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533FC87-D4A8-2BE1-B1D7-1B6AFF0C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6" y="107949"/>
            <a:ext cx="10515600" cy="78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 sz="28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10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8F735-DAE8-694E-B8BB-96D15AF276D3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5952B54F-D4AC-494F-8479-71E63F2E6C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/>
        </p:nvSpPr>
        <p:spPr>
          <a:xfrm>
            <a:off x="0" y="1"/>
            <a:ext cx="12192000" cy="996949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0" y="256786"/>
            <a:ext cx="500159" cy="5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5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HU1xH6Ogs4?feature=oemb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D329-42E7-E060-5D28-BC430E160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the “language” of ML/DL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5043D-E898-F105-9820-28FC78EC3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Jian</a:t>
            </a:r>
          </a:p>
          <a:p>
            <a:r>
              <a:rPr lang="en-US" dirty="0"/>
              <a:t>2025/09/12</a:t>
            </a:r>
          </a:p>
        </p:txBody>
      </p:sp>
    </p:spTree>
    <p:extLst>
      <p:ext uri="{BB962C8B-B14F-4D97-AF65-F5344CB8AC3E}">
        <p14:creationId xmlns:p14="http://schemas.microsoft.com/office/powerpoint/2010/main" val="35139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9A0EC4-E293-7D3A-28FF-6EF3B021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“Functions describe the world”</a:t>
            </a:r>
          </a:p>
        </p:txBody>
      </p:sp>
      <p:pic>
        <p:nvPicPr>
          <p:cNvPr id="8" name="Online Media 7" descr="On Mathematical Maturity (1) Thomas Garrity">
            <a:hlinkClick r:id="" action="ppaction://media"/>
            <a:extLst>
              <a:ext uri="{FF2B5EF4-FFF2-40B4-BE49-F238E27FC236}">
                <a16:creationId xmlns:a16="http://schemas.microsoft.com/office/drawing/2014/main" id="{99E7541F-A84F-0BAF-8B8F-8817805A9D1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449512" y="1368734"/>
            <a:ext cx="7292975" cy="4120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15A5A2-2BC8-A054-1C0D-86BA938EC8C7}"/>
              </a:ext>
            </a:extLst>
          </p:cNvPr>
          <p:cNvSpPr txBox="1"/>
          <p:nvPr/>
        </p:nvSpPr>
        <p:spPr>
          <a:xfrm>
            <a:off x="2193626" y="5553500"/>
            <a:ext cx="7548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Phenomena/relationships in the world can be modeled as mathematical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91C72-B4C2-0C31-6835-077F71F245B0}"/>
              </a:ext>
            </a:extLst>
          </p:cNvPr>
          <p:cNvSpPr txBox="1"/>
          <p:nvPr/>
        </p:nvSpPr>
        <p:spPr>
          <a:xfrm>
            <a:off x="2449512" y="104512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Prof. Thomas Garrity on mathematical maturity</a:t>
            </a:r>
          </a:p>
        </p:txBody>
      </p:sp>
    </p:spTree>
    <p:extLst>
      <p:ext uri="{BB962C8B-B14F-4D97-AF65-F5344CB8AC3E}">
        <p14:creationId xmlns:p14="http://schemas.microsoft.com/office/powerpoint/2010/main" val="2920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ACD2-8C02-4D11-08D3-FF6F3C68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FCF64E-D5DD-07C0-DB9B-04A8E306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that is true, our goal is simply to determine the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954D5-ED10-7EE6-5F6E-B9D4A033D9F2}"/>
              </a:ext>
            </a:extLst>
          </p:cNvPr>
          <p:cNvSpPr txBox="1"/>
          <p:nvPr/>
        </p:nvSpPr>
        <p:spPr>
          <a:xfrm>
            <a:off x="477106" y="1207115"/>
            <a:ext cx="10998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goal of ML/DL is to find the best models to approximate those functions such that we can make accurate predictions.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411B4-597B-6AC5-0687-1045955E1168}"/>
              </a:ext>
            </a:extLst>
          </p:cNvPr>
          <p:cNvSpPr txBox="1"/>
          <p:nvPr/>
        </p:nvSpPr>
        <p:spPr>
          <a:xfrm>
            <a:off x="3600450" y="2171561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		</a:t>
            </a:r>
            <a:r>
              <a:rPr lang="en-US" b="1" dirty="0">
                <a:sym typeface="Wingdings" pitchFamily="2" charset="2"/>
              </a:rPr>
              <a:t>	Output</a:t>
            </a:r>
            <a:endParaRPr lang="en-US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F17826-202C-E248-AB0E-AE891EA9C2FC}"/>
              </a:ext>
            </a:extLst>
          </p:cNvPr>
          <p:cNvCxnSpPr/>
          <p:nvPr/>
        </p:nvCxnSpPr>
        <p:spPr>
          <a:xfrm>
            <a:off x="4491990" y="2356227"/>
            <a:ext cx="1814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2B7E825-76CD-7456-868D-6295B49F5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12" y="3284102"/>
            <a:ext cx="2914650" cy="1720453"/>
          </a:xfrm>
          <a:prstGeom prst="rect">
            <a:avLst/>
          </a:prstGeom>
        </p:spPr>
      </p:pic>
      <p:pic>
        <p:nvPicPr>
          <p:cNvPr id="1026" name="Picture 2" descr="MLP multiclass prediction demo (Image by author, made with draw.io)">
            <a:extLst>
              <a:ext uri="{FF2B5EF4-FFF2-40B4-BE49-F238E27FC236}">
                <a16:creationId xmlns:a16="http://schemas.microsoft.com/office/drawing/2014/main" id="{614F574F-8FFA-59E9-44F2-5667EACBD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410" y="2968021"/>
            <a:ext cx="3482990" cy="215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3573A6-4B76-AEA6-1FD5-C0E1E1646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402" y="3094965"/>
            <a:ext cx="3187700" cy="2133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1DCFF4-5B58-B6DF-D95B-43B59698C771}"/>
              </a:ext>
            </a:extLst>
          </p:cNvPr>
          <p:cNvSpPr txBox="1"/>
          <p:nvPr/>
        </p:nvSpPr>
        <p:spPr>
          <a:xfrm>
            <a:off x="5200370" y="201477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1E7E3-F880-2253-4377-FF25B392EA61}"/>
              </a:ext>
            </a:extLst>
          </p:cNvPr>
          <p:cNvSpPr txBox="1"/>
          <p:nvPr/>
        </p:nvSpPr>
        <p:spPr>
          <a:xfrm>
            <a:off x="1064604" y="5048490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Linear regression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96A13-C859-8EA5-A5E0-B9B7F7660AE9}"/>
              </a:ext>
            </a:extLst>
          </p:cNvPr>
          <p:cNvSpPr txBox="1"/>
          <p:nvPr/>
        </p:nvSpPr>
        <p:spPr>
          <a:xfrm>
            <a:off x="5088839" y="5048489"/>
            <a:ext cx="1241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D86FD-6EC2-AB90-BF10-CC53AA73A2EF}"/>
              </a:ext>
            </a:extLst>
          </p:cNvPr>
          <p:cNvSpPr txBox="1"/>
          <p:nvPr/>
        </p:nvSpPr>
        <p:spPr>
          <a:xfrm>
            <a:off x="9356039" y="5061705"/>
            <a:ext cx="1606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recognition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DBD85-1585-1D8F-31E0-AD2BF3414C79}"/>
              </a:ext>
            </a:extLst>
          </p:cNvPr>
          <p:cNvSpPr txBox="1"/>
          <p:nvPr/>
        </p:nvSpPr>
        <p:spPr>
          <a:xfrm>
            <a:off x="788670" y="6069330"/>
            <a:ext cx="280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Difference of ML and DL?</a:t>
            </a:r>
          </a:p>
        </p:txBody>
      </p:sp>
    </p:spTree>
    <p:extLst>
      <p:ext uri="{BB962C8B-B14F-4D97-AF65-F5344CB8AC3E}">
        <p14:creationId xmlns:p14="http://schemas.microsoft.com/office/powerpoint/2010/main" val="141249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2A2C-D75E-A935-AE2E-2C41E6F6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BD9C0B-4FBF-D7B0-962E-BC5D2868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flow of a ML process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6C46E5-BA2A-B2C2-6D73-F03BE7F07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Data collection and preprocessing</a:t>
            </a:r>
          </a:p>
          <a:p>
            <a:r>
              <a:rPr lang="en-US" sz="2400" dirty="0"/>
              <a:t>Model selection (assumptions about the function forms)</a:t>
            </a:r>
          </a:p>
          <a:p>
            <a:pPr lvl="1"/>
            <a:r>
              <a:rPr lang="en-US" sz="2000" dirty="0"/>
              <a:t>Linear regression, decision trees, SVMs, random forests, neural networks, etc.</a:t>
            </a:r>
          </a:p>
          <a:p>
            <a:r>
              <a:rPr lang="en-US" sz="2400" dirty="0"/>
              <a:t>Training</a:t>
            </a:r>
          </a:p>
          <a:p>
            <a:pPr lvl="1"/>
            <a:r>
              <a:rPr lang="en-US" sz="2000" dirty="0"/>
              <a:t>Define loss function to describe “how far” we are from the ground truth</a:t>
            </a:r>
          </a:p>
          <a:p>
            <a:pPr lvl="1"/>
            <a:r>
              <a:rPr lang="en-US" sz="2000" dirty="0"/>
              <a:t>Run optimization algorithms to iteratively update parameters of the model</a:t>
            </a:r>
          </a:p>
          <a:p>
            <a:r>
              <a:rPr lang="en-US" sz="2400" dirty="0"/>
              <a:t>Evaluation</a:t>
            </a:r>
          </a:p>
          <a:p>
            <a:pPr lvl="1"/>
            <a:r>
              <a:rPr lang="en-US" sz="2000" dirty="0"/>
              <a:t>Performance of certain metrics on validation dataset</a:t>
            </a:r>
          </a:p>
          <a:p>
            <a:pPr lvl="1"/>
            <a:r>
              <a:rPr lang="en-US" sz="2000" dirty="0"/>
              <a:t>Hyperparameter search; regularization (early stopping etc.)</a:t>
            </a:r>
          </a:p>
          <a:p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(Iteration: re-select new models; hyperparameters etc.)</a:t>
            </a:r>
          </a:p>
          <a:p>
            <a:r>
              <a:rPr lang="en-US" sz="2400" dirty="0"/>
              <a:t>Testing</a:t>
            </a:r>
          </a:p>
          <a:p>
            <a:pPr lvl="1"/>
            <a:r>
              <a:rPr lang="en-US" sz="2000" dirty="0"/>
              <a:t>generalizability</a:t>
            </a:r>
          </a:p>
        </p:txBody>
      </p:sp>
    </p:spTree>
    <p:extLst>
      <p:ext uri="{BB962C8B-B14F-4D97-AF65-F5344CB8AC3E}">
        <p14:creationId xmlns:p14="http://schemas.microsoft.com/office/powerpoint/2010/main" val="159685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557D-FD9F-7D62-36E8-F38379C9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4C7017-EDF6-DFE0-97FD-A43BBFF9F1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Model</a:t>
            </a:r>
          </a:p>
          <a:p>
            <a:r>
              <a:rPr lang="en-US" dirty="0"/>
              <a:t>Loss/cost function</a:t>
            </a:r>
          </a:p>
          <a:p>
            <a:r>
              <a:rPr lang="en-US" dirty="0"/>
              <a:t>Optimization scheme: Global and Local</a:t>
            </a:r>
          </a:p>
          <a:p>
            <a:pPr lvl="1"/>
            <a:r>
              <a:rPr lang="en-US" dirty="0"/>
              <a:t>0th order optimization (</a:t>
            </a:r>
            <a:r>
              <a:rPr lang="en-US" dirty="0" err="1"/>
              <a:t>Kairong</a:t>
            </a:r>
            <a:r>
              <a:rPr lang="en-US" dirty="0"/>
              <a:t>: random search; Harsha: coordinate search and descent)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order optimization (David)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order optimization (Shrishti)</a:t>
            </a:r>
          </a:p>
          <a:p>
            <a:r>
              <a:rPr lang="en-US" dirty="0"/>
              <a:t>Learning rate</a:t>
            </a:r>
          </a:p>
          <a:p>
            <a:r>
              <a:rPr lang="en-US" dirty="0"/>
              <a:t>Training / Validation / Testing</a:t>
            </a:r>
          </a:p>
          <a:p>
            <a:r>
              <a:rPr lang="en-US" dirty="0"/>
              <a:t>Loss history</a:t>
            </a:r>
          </a:p>
          <a:p>
            <a:r>
              <a:rPr lang="en-US" dirty="0"/>
              <a:t>Performance metrics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91DB2-7296-CC47-9320-2677180D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4953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3093-BA13-919D-0403-0C06C700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0A8DD7-4FF4-385F-06FB-66A20EBD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simplest case: linear regression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06639C-1B9E-2ED2-EC62-9918A31B4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66" y="1574800"/>
            <a:ext cx="4914900" cy="370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C47E25-F95E-9154-9B1E-34864208B2D3}"/>
              </a:ext>
            </a:extLst>
          </p:cNvPr>
          <p:cNvSpPr txBox="1"/>
          <p:nvPr/>
        </p:nvSpPr>
        <p:spPr>
          <a:xfrm>
            <a:off x="7715250" y="174879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</a:t>
            </a:r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dirty="0"/>
              <a:t> * x + </a:t>
            </a:r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EDDC0-69D7-52DB-7E31-4B87DEE89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120" y="2587387"/>
            <a:ext cx="3085148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5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CD534-3F3E-1927-B0FB-963F58CF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Even the most state-of-art models follow this pattern...</a:t>
            </a:r>
          </a:p>
        </p:txBody>
      </p:sp>
      <p:pic>
        <p:nvPicPr>
          <p:cNvPr id="2050" name="Picture 2" descr="Fig. 3">
            <a:extLst>
              <a:ext uri="{FF2B5EF4-FFF2-40B4-BE49-F238E27FC236}">
                <a16:creationId xmlns:a16="http://schemas.microsoft.com/office/drawing/2014/main" id="{4630998A-5BC4-6FD5-93B2-49B569333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431" y="1460786"/>
            <a:ext cx="5498132" cy="411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00F14D-7A5D-F5B7-1884-EB89CC8BF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93" y="1070709"/>
            <a:ext cx="3062748" cy="1509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0CC22D-B487-EF5B-38A2-C86AA8029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992" y="2537707"/>
            <a:ext cx="3118068" cy="4320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EBC22-4B87-7058-695E-0AB435A84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98" y="2416508"/>
            <a:ext cx="9903336" cy="18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2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F92E-EF9E-A36F-2DDC-A08525D5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72E25E-D16B-9360-E250-C60D99AC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optimization schemes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332E6-C22A-A51D-EA1E-173570B7D325}"/>
              </a:ext>
            </a:extLst>
          </p:cNvPr>
          <p:cNvSpPr txBox="1"/>
          <p:nvPr/>
        </p:nvSpPr>
        <p:spPr>
          <a:xfrm>
            <a:off x="614266" y="1284446"/>
            <a:ext cx="102442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dirty="0"/>
              <a:t>Optimization scheme: Global and Local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0th order optimization (</a:t>
            </a:r>
            <a:r>
              <a:rPr lang="en-US" dirty="0" err="1"/>
              <a:t>Kairong</a:t>
            </a:r>
            <a:r>
              <a:rPr lang="en-US" dirty="0"/>
              <a:t>: random search; Harsha: coordinate search and descent)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order optimization (David)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order optimization (Shrishti)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36932-BD12-42DB-2BC1-9987470C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05" y="3034495"/>
            <a:ext cx="4521115" cy="1914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F4D0D2-13A4-0DF3-3964-BA6502B7A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82672"/>
            <a:ext cx="6682899" cy="196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9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2FC8F-3E08-C8DE-6A5C-845C7A626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6BD898-0DD9-8734-0C98-E234FAAE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52D600-4524-BA92-0D98-CBC114D1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66" y="1923454"/>
            <a:ext cx="5283614" cy="3011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44B009-D00E-0906-667C-762F79000C06}"/>
              </a:ext>
            </a:extLst>
          </p:cNvPr>
          <p:cNvSpPr txBox="1"/>
          <p:nvPr/>
        </p:nvSpPr>
        <p:spPr>
          <a:xfrm>
            <a:off x="1201664" y="134874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search directions as D increases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8DCF0-BE9A-9547-FA96-AC961E07B5C2}"/>
              </a:ext>
            </a:extLst>
          </p:cNvPr>
          <p:cNvSpPr txBox="1"/>
          <p:nvPr/>
        </p:nvSpPr>
        <p:spPr>
          <a:xfrm>
            <a:off x="6460979" y="1348740"/>
            <a:ext cx="5096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dimension data points are equally close/far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40367-7F79-2833-0273-4A2520B02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0" y="2514599"/>
            <a:ext cx="42418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23BCE2-119D-D04B-2A76-7247FF8AA907}"/>
              </a:ext>
            </a:extLst>
          </p:cNvPr>
          <p:cNvSpPr txBox="1"/>
          <p:nvPr/>
        </p:nvSpPr>
        <p:spPr>
          <a:xfrm>
            <a:off x="3313828" y="5269407"/>
            <a:ext cx="55643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metrics loss meaning in high dimension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Computational search source grows exponentially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364557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96D6-4736-2F50-4C7B-4729A3E8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C13417-F40C-F06B-19FE-71B9A942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learning rate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F566A4-94A3-C027-369A-18DEB4AB02B9}"/>
              </a:ext>
            </a:extLst>
          </p:cNvPr>
          <p:cNvSpPr txBox="1"/>
          <p:nvPr/>
        </p:nvSpPr>
        <p:spPr>
          <a:xfrm>
            <a:off x="800100" y="1245870"/>
            <a:ext cx="8144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Learning rate affects how large the new update of input will be from the current</a:t>
            </a:r>
          </a:p>
          <a:p>
            <a:r>
              <a:rPr lang="en-US" dirty="0"/>
              <a:t>A reasonable choice of learning rate</a:t>
            </a:r>
          </a:p>
        </p:txBody>
      </p:sp>
    </p:spTree>
    <p:extLst>
      <p:ext uri="{BB962C8B-B14F-4D97-AF65-F5344CB8AC3E}">
        <p14:creationId xmlns:p14="http://schemas.microsoft.com/office/powerpoint/2010/main" val="1428493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5C5C-2D8A-738F-4C01-9BB1F247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BA7D9-0457-241C-B073-4E780F2A78DE}"/>
              </a:ext>
            </a:extLst>
          </p:cNvPr>
          <p:cNvSpPr txBox="1"/>
          <p:nvPr/>
        </p:nvSpPr>
        <p:spPr>
          <a:xfrm>
            <a:off x="5432998" y="342900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916447715"/>
      </p:ext>
    </p:extLst>
  </p:cSld>
  <p:clrMapOvr>
    <a:masterClrMapping/>
  </p:clrMapOvr>
</p:sld>
</file>

<file path=ppt/theme/theme1.xml><?xml version="1.0" encoding="utf-8"?>
<a:theme xmlns:a="http://schemas.openxmlformats.org/drawingml/2006/main" name="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1EF542C-15E8-8E4F-878B-84A65C77ED8C}" vid="{AD8A57EA-9924-734C-A163-CE5D736B45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jian_personal</Template>
  <TotalTime>511</TotalTime>
  <Words>363</Words>
  <Application>Microsoft Macintosh PowerPoint</Application>
  <PresentationFormat>Widescreen</PresentationFormat>
  <Paragraphs>58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Black</vt:lpstr>
      <vt:lpstr>Wingdings</vt:lpstr>
      <vt:lpstr>jian_personal</vt:lpstr>
      <vt:lpstr>Introduction to the “language” of ML/DL</vt:lpstr>
      <vt:lpstr>“Functions describe the world”</vt:lpstr>
      <vt:lpstr>If that is true, our goal is simply to determine the functions</vt:lpstr>
      <vt:lpstr>General flow of a ML process</vt:lpstr>
      <vt:lpstr>The language of machine learning</vt:lpstr>
      <vt:lpstr>The simplest case: linear regression</vt:lpstr>
      <vt:lpstr>Even the most state-of-art models follow this pattern...</vt:lpstr>
      <vt:lpstr>Local optimization schemes</vt:lpstr>
      <vt:lpstr>Curse of dimensionality</vt:lpstr>
      <vt:lpstr>Importance of learning rate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JianHuang</dc:creator>
  <cp:lastModifiedBy>JianHuang</cp:lastModifiedBy>
  <cp:revision>18</cp:revision>
  <dcterms:created xsi:type="dcterms:W3CDTF">2025-09-06T23:52:02Z</dcterms:created>
  <dcterms:modified xsi:type="dcterms:W3CDTF">2025-09-12T19:11:30Z</dcterms:modified>
</cp:coreProperties>
</file>