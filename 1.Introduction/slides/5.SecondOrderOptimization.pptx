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Old Standard TT"/>
      <p:regular r:id="rId9"/>
      <p:bold r:id="rId10"/>
      <p: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OldStandardTT-italic.fntdata"/><Relationship Id="rId10" Type="http://schemas.openxmlformats.org/officeDocument/2006/relationships/font" Target="fonts/OldStandardTT-bold.fntdata"/><Relationship Id="rId9" Type="http://schemas.openxmlformats.org/officeDocument/2006/relationships/font" Target="fonts/OldStandardT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3f8703d33e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3f8703d33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e334a9a18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7e334a9a18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e334a9a18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e334a9a18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8283" y="2087085"/>
            <a:ext cx="4634527" cy="29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229450" y="111055"/>
            <a:ext cx="66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Second-order </a:t>
            </a: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optimization</a:t>
            </a: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grpSp>
        <p:nvGrpSpPr>
          <p:cNvPr id="61" name="Google Shape;61;p13"/>
          <p:cNvGrpSpPr/>
          <p:nvPr/>
        </p:nvGrpSpPr>
        <p:grpSpPr>
          <a:xfrm>
            <a:off x="91775" y="1453168"/>
            <a:ext cx="8822700" cy="400200"/>
            <a:chOff x="91775" y="688400"/>
            <a:chExt cx="8822700" cy="400200"/>
          </a:xfrm>
        </p:grpSpPr>
        <p:sp>
          <p:nvSpPr>
            <p:cNvPr id="62" name="Google Shape;62;p13"/>
            <p:cNvSpPr txBox="1"/>
            <p:nvPr/>
          </p:nvSpPr>
          <p:spPr>
            <a:xfrm>
              <a:off x="91775" y="688400"/>
              <a:ext cx="8822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175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400"/>
                <a:buChar char="●"/>
              </a:pPr>
              <a:r>
                <a:rPr lang="en">
                  <a:solidFill>
                    <a:srgbClr val="666666"/>
                  </a:solidFill>
                </a:rPr>
                <a:t>A single input function is </a:t>
              </a:r>
              <a:r>
                <a:rPr lang="en">
                  <a:solidFill>
                    <a:srgbClr val="666666"/>
                  </a:solidFill>
                </a:rPr>
                <a:t>convex </a:t>
              </a:r>
              <a:r>
                <a:rPr lang="en">
                  <a:solidFill>
                    <a:srgbClr val="666666"/>
                  </a:solidFill>
                </a:rPr>
                <a:t>or </a:t>
              </a:r>
              <a:r>
                <a:rPr lang="en">
                  <a:solidFill>
                    <a:srgbClr val="666666"/>
                  </a:solidFill>
                </a:rPr>
                <a:t>concave </a:t>
              </a:r>
              <a:r>
                <a:rPr lang="en">
                  <a:solidFill>
                    <a:srgbClr val="666666"/>
                  </a:solidFill>
                </a:rPr>
                <a:t>at </a:t>
              </a:r>
              <a:r>
                <a:rPr lang="en">
                  <a:solidFill>
                    <a:srgbClr val="666666"/>
                  </a:solidFill>
                </a:rPr>
                <a:t>point</a:t>
              </a:r>
              <a:r>
                <a:rPr lang="en">
                  <a:solidFill>
                    <a:srgbClr val="666666"/>
                  </a:solidFill>
                </a:rPr>
                <a:t> </a:t>
              </a:r>
              <a:r>
                <a:rPr i="1" lang="en">
                  <a:solidFill>
                    <a:srgbClr val="666666"/>
                  </a:solidFill>
                </a:rPr>
                <a:t>v</a:t>
              </a:r>
              <a:r>
                <a:rPr lang="en">
                  <a:solidFill>
                    <a:srgbClr val="666666"/>
                  </a:solidFill>
                </a:rPr>
                <a:t> can be </a:t>
              </a:r>
              <a:r>
                <a:rPr lang="en">
                  <a:solidFill>
                    <a:srgbClr val="666666"/>
                  </a:solidFill>
                </a:rPr>
                <a:t>determined: </a:t>
              </a:r>
              <a:endParaRPr>
                <a:solidFill>
                  <a:srgbClr val="666666"/>
                </a:solidFill>
              </a:endParaRPr>
            </a:p>
          </p:txBody>
        </p:sp>
        <p:pic>
          <p:nvPicPr>
            <p:cNvPr id="63" name="Google Shape;63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02475" y="732063"/>
              <a:ext cx="1849875" cy="3128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4" name="Google Shape;64;p13"/>
          <p:cNvPicPr preferRelativeResize="0"/>
          <p:nvPr/>
        </p:nvPicPr>
        <p:blipFill rotWithShape="1">
          <a:blip r:embed="rId3">
            <a:alphaModFix/>
          </a:blip>
          <a:srcRect b="33337" l="0" r="0" t="0"/>
          <a:stretch/>
        </p:blipFill>
        <p:spPr>
          <a:xfrm>
            <a:off x="4444975" y="2081375"/>
            <a:ext cx="4634525" cy="194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 rotWithShape="1">
          <a:blip r:embed="rId5">
            <a:alphaModFix/>
          </a:blip>
          <a:srcRect b="70443" l="0" r="34240" t="0"/>
          <a:stretch/>
        </p:blipFill>
        <p:spPr>
          <a:xfrm>
            <a:off x="5315250" y="1914750"/>
            <a:ext cx="822825" cy="16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 rotWithShape="1">
          <a:blip r:embed="rId5">
            <a:alphaModFix/>
          </a:blip>
          <a:srcRect b="41478" l="0" r="54759" t="32992"/>
          <a:stretch/>
        </p:blipFill>
        <p:spPr>
          <a:xfrm>
            <a:off x="6753900" y="1914750"/>
            <a:ext cx="655387" cy="16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 rotWithShape="1">
          <a:blip r:embed="rId5">
            <a:alphaModFix/>
          </a:blip>
          <a:srcRect b="0" l="0" r="0" t="65866"/>
          <a:stretch/>
        </p:blipFill>
        <p:spPr>
          <a:xfrm>
            <a:off x="7812850" y="1902335"/>
            <a:ext cx="1331150" cy="20471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 txBox="1"/>
          <p:nvPr/>
        </p:nvSpPr>
        <p:spPr>
          <a:xfrm>
            <a:off x="91775" y="572738"/>
            <a:ext cx="58518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Both maxima and minima have zero derivative.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What about derivative of the derivative of the curve?</a:t>
            </a:r>
            <a:endParaRPr/>
          </a:p>
        </p:txBody>
      </p:sp>
      <p:grpSp>
        <p:nvGrpSpPr>
          <p:cNvPr id="69" name="Google Shape;69;p13"/>
          <p:cNvGrpSpPr/>
          <p:nvPr/>
        </p:nvGrpSpPr>
        <p:grpSpPr>
          <a:xfrm>
            <a:off x="85125" y="1989808"/>
            <a:ext cx="4746900" cy="2421600"/>
            <a:chOff x="145020" y="1982180"/>
            <a:chExt cx="4746900" cy="2421600"/>
          </a:xfrm>
        </p:grpSpPr>
        <p:sp>
          <p:nvSpPr>
            <p:cNvPr id="70" name="Google Shape;70;p13"/>
            <p:cNvSpPr txBox="1"/>
            <p:nvPr/>
          </p:nvSpPr>
          <p:spPr>
            <a:xfrm>
              <a:off x="145020" y="1982180"/>
              <a:ext cx="4746900" cy="242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1750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66666"/>
                </a:buClr>
                <a:buSzPts val="1400"/>
                <a:buChar char="●"/>
              </a:pPr>
              <a:r>
                <a:rPr lang="en">
                  <a:solidFill>
                    <a:srgbClr val="666666"/>
                  </a:solidFill>
                </a:rPr>
                <a:t>A multi input function: if Hessian matrix at a point </a:t>
              </a:r>
              <a:r>
                <a:rPr i="1" lang="en">
                  <a:solidFill>
                    <a:srgbClr val="666666"/>
                  </a:solidFill>
                </a:rPr>
                <a:t>v</a:t>
              </a:r>
              <a:r>
                <a:rPr lang="en">
                  <a:solidFill>
                    <a:srgbClr val="666666"/>
                  </a:solidFill>
                </a:rPr>
                <a:t> has all nonnegative or nonpositive values.</a:t>
              </a:r>
              <a:endParaRPr>
                <a:solidFill>
                  <a:srgbClr val="666666"/>
                </a:solidFill>
              </a:endParaRPr>
            </a:p>
            <a:p>
              <a:pPr indent="-317500" lvl="0" marL="45720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666666"/>
                </a:buClr>
                <a:buSzPts val="1400"/>
                <a:buChar char="●"/>
              </a:pPr>
              <a:r>
                <a:rPr lang="en">
                  <a:solidFill>
                    <a:srgbClr val="666666"/>
                  </a:solidFill>
                </a:rPr>
                <a:t>A local or global minimum if convex</a:t>
              </a:r>
              <a:br>
                <a:rPr lang="en">
                  <a:solidFill>
                    <a:srgbClr val="666666"/>
                  </a:solidFill>
                </a:rPr>
              </a:br>
              <a:r>
                <a:rPr lang="en">
                  <a:solidFill>
                    <a:srgbClr val="666666"/>
                  </a:solidFill>
                </a:rPr>
                <a:t>(if all the eigenvalues are positive)</a:t>
              </a:r>
              <a:endParaRPr>
                <a:solidFill>
                  <a:srgbClr val="666666"/>
                </a:solidFill>
              </a:endParaRPr>
            </a:p>
            <a:p>
              <a:pPr indent="-317500" lvl="0" marL="45720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666666"/>
                </a:buClr>
                <a:buSzPts val="1400"/>
                <a:buChar char="●"/>
              </a:pPr>
              <a:r>
                <a:rPr lang="en">
                  <a:solidFill>
                    <a:srgbClr val="666666"/>
                  </a:solidFill>
                </a:rPr>
                <a:t>A local or global maximum if concave </a:t>
              </a:r>
              <a:br>
                <a:rPr lang="en">
                  <a:solidFill>
                    <a:srgbClr val="666666"/>
                  </a:solidFill>
                </a:rPr>
              </a:br>
              <a:r>
                <a:rPr lang="en">
                  <a:solidFill>
                    <a:srgbClr val="666666"/>
                  </a:solidFill>
                </a:rPr>
                <a:t>(if eigenvalues are -ve)</a:t>
              </a:r>
              <a:endParaRPr>
                <a:solidFill>
                  <a:srgbClr val="666666"/>
                </a:solidFill>
              </a:endParaRPr>
            </a:p>
            <a:p>
              <a:pPr indent="-317500" lvl="0" marL="45720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666666"/>
                </a:buClr>
                <a:buSzPts val="1400"/>
                <a:buChar char="●"/>
              </a:pPr>
              <a:r>
                <a:rPr lang="en">
                  <a:solidFill>
                    <a:srgbClr val="666666"/>
                  </a:solidFill>
                </a:rPr>
                <a:t>A </a:t>
              </a:r>
              <a:r>
                <a:rPr lang="en">
                  <a:solidFill>
                    <a:srgbClr val="666666"/>
                  </a:solidFill>
                </a:rPr>
                <a:t>saddle</a:t>
              </a:r>
              <a:r>
                <a:rPr lang="en">
                  <a:solidFill>
                    <a:srgbClr val="666666"/>
                  </a:solidFill>
                </a:rPr>
                <a:t> point if its 0 (</a:t>
              </a:r>
              <a:r>
                <a:rPr lang="en">
                  <a:solidFill>
                    <a:srgbClr val="666666"/>
                  </a:solidFill>
                </a:rPr>
                <a:t>if eigenvalues are mixed</a:t>
              </a:r>
              <a:r>
                <a:rPr lang="en">
                  <a:solidFill>
                    <a:srgbClr val="666666"/>
                  </a:solidFill>
                </a:rPr>
                <a:t>)</a:t>
              </a:r>
              <a:endParaRPr>
                <a:solidFill>
                  <a:srgbClr val="666666"/>
                </a:solidFill>
              </a:endParaRPr>
            </a:p>
            <a:p>
              <a:pPr indent="-317500" lvl="0" marL="457200" rtl="0" algn="l">
                <a:lnSpc>
                  <a:spcPct val="100000"/>
                </a:lnSpc>
                <a:spcBef>
                  <a:spcPts val="1000"/>
                </a:spcBef>
                <a:spcAft>
                  <a:spcPts val="1000"/>
                </a:spcAft>
                <a:buClr>
                  <a:srgbClr val="666666"/>
                </a:buClr>
                <a:buSzPts val="1400"/>
                <a:buChar char="●"/>
              </a:pPr>
              <a:r>
                <a:rPr lang="en">
                  <a:solidFill>
                    <a:srgbClr val="666666"/>
                  </a:solidFill>
                </a:rPr>
                <a:t>I</a:t>
              </a:r>
              <a:r>
                <a:rPr lang="en">
                  <a:solidFill>
                    <a:srgbClr val="666666"/>
                  </a:solidFill>
                </a:rPr>
                <a:t>f eigenvalues are 0, reduces to linear function.</a:t>
              </a:r>
              <a:endParaRPr>
                <a:solidFill>
                  <a:srgbClr val="666666"/>
                </a:solidFill>
              </a:endParaRPr>
            </a:p>
          </p:txBody>
        </p:sp>
        <p:pic>
          <p:nvPicPr>
            <p:cNvPr id="71" name="Google Shape;71;p13"/>
            <p:cNvPicPr preferRelativeResize="0"/>
            <p:nvPr/>
          </p:nvPicPr>
          <p:blipFill rotWithShape="1">
            <a:blip r:embed="rId4">
              <a:alphaModFix/>
            </a:blip>
            <a:srcRect b="0" l="0" r="41321" t="0"/>
            <a:stretch/>
          </p:blipFill>
          <p:spPr>
            <a:xfrm>
              <a:off x="3546425" y="2664850"/>
              <a:ext cx="1085475" cy="312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" name="Google Shape;72;p13"/>
          <p:cNvSpPr/>
          <p:nvPr/>
        </p:nvSpPr>
        <p:spPr>
          <a:xfrm>
            <a:off x="8006550" y="1099200"/>
            <a:ext cx="186300" cy="93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85125" y="4713096"/>
            <a:ext cx="771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https://github.com/neonwatty/machine-learning-refined/tree/main/chapter_pdfs</a:t>
            </a:r>
            <a:endParaRPr sz="1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/>
        </p:nvSpPr>
        <p:spPr>
          <a:xfrm>
            <a:off x="229450" y="137675"/>
            <a:ext cx="66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Second-order optimization 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91775" y="581650"/>
            <a:ext cx="41547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Function: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Second-order Taylor series approximations is done → quadratic functions.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Constant controls the convexity (if +ve) or concavity (if -ve) or </a:t>
            </a:r>
            <a:r>
              <a:rPr lang="en" sz="1200">
                <a:solidFill>
                  <a:schemeClr val="dk1"/>
                </a:solidFill>
              </a:rPr>
              <a:t>linear</a:t>
            </a:r>
            <a:r>
              <a:rPr lang="en" sz="1200">
                <a:solidFill>
                  <a:schemeClr val="dk1"/>
                </a:solidFill>
              </a:rPr>
              <a:t> (if 0) of the function.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Point of expansion → </a:t>
            </a:r>
            <a:r>
              <a:rPr lang="en" sz="1200">
                <a:solidFill>
                  <a:srgbClr val="FF0000"/>
                </a:solidFill>
              </a:rPr>
              <a:t>o</a:t>
            </a:r>
            <a:r>
              <a:rPr lang="en" sz="1200">
                <a:solidFill>
                  <a:schemeClr val="dk1"/>
                </a:solidFill>
              </a:rPr>
              <a:t> and its evaluation by the function → </a:t>
            </a:r>
            <a:r>
              <a:rPr lang="en" sz="1200">
                <a:solidFill>
                  <a:srgbClr val="FF0000"/>
                </a:solidFill>
              </a:rPr>
              <a:t>x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Stationary point w* of the second-order Taylor series → </a:t>
            </a:r>
            <a:r>
              <a:rPr lang="en" sz="1200">
                <a:solidFill>
                  <a:srgbClr val="00FF00"/>
                </a:solidFill>
              </a:rPr>
              <a:t>o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Evaluations of both the quadratic approximation (</a:t>
            </a:r>
            <a:r>
              <a:rPr lang="en" sz="1200">
                <a:solidFill>
                  <a:srgbClr val="00FF00"/>
                </a:solidFill>
              </a:rPr>
              <a:t>x</a:t>
            </a:r>
            <a:r>
              <a:rPr lang="en" sz="1200">
                <a:solidFill>
                  <a:schemeClr val="dk1"/>
                </a:solidFill>
              </a:rPr>
              <a:t>) and the function itself at w* (</a:t>
            </a:r>
            <a:r>
              <a:rPr lang="en" sz="1200">
                <a:solidFill>
                  <a:srgbClr val="0000FF"/>
                </a:solidFill>
              </a:rPr>
              <a:t>x</a:t>
            </a:r>
            <a:r>
              <a:rPr lang="en" sz="1200">
                <a:solidFill>
                  <a:schemeClr val="dk1"/>
                </a:solidFill>
              </a:rPr>
              <a:t>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Function </a:t>
            </a:r>
            <a:r>
              <a:rPr i="1" lang="en" sz="1200">
                <a:solidFill>
                  <a:schemeClr val="dk1"/>
                </a:solidFill>
              </a:rPr>
              <a:t>g</a:t>
            </a:r>
            <a:r>
              <a:rPr lang="en" sz="1200">
                <a:solidFill>
                  <a:schemeClr val="dk1"/>
                </a:solidFill>
              </a:rPr>
              <a:t> is </a:t>
            </a:r>
            <a:r>
              <a:rPr lang="en" sz="1200">
                <a:solidFill>
                  <a:schemeClr val="dk1"/>
                </a:solidFill>
              </a:rPr>
              <a:t>convex</a:t>
            </a:r>
            <a:r>
              <a:rPr lang="en" sz="1200">
                <a:solidFill>
                  <a:schemeClr val="dk1"/>
                </a:solidFill>
              </a:rPr>
              <a:t> everywhere → quadratic approximation is always convex and its stationary point is always minimum.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 rotWithShape="1">
          <a:blip r:embed="rId3">
            <a:alphaModFix/>
          </a:blip>
          <a:srcRect b="44490" l="0" r="0" t="0"/>
          <a:stretch/>
        </p:blipFill>
        <p:spPr>
          <a:xfrm>
            <a:off x="4171850" y="506025"/>
            <a:ext cx="4870649" cy="135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9975" y="599375"/>
            <a:ext cx="1774951" cy="35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6425" y="1798037"/>
            <a:ext cx="3094874" cy="15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94613" y="3461971"/>
            <a:ext cx="2958500" cy="14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4"/>
          <p:cNvSpPr txBox="1"/>
          <p:nvPr/>
        </p:nvSpPr>
        <p:spPr>
          <a:xfrm>
            <a:off x="85125" y="4713096"/>
            <a:ext cx="771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https://github.com/neonwatty/machine-learning-refined/tree/main/chapter_pdfs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229450" y="137675"/>
            <a:ext cx="66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Second-order optimization 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324700" y="654150"/>
            <a:ext cx="3848700" cy="19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Advantages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Adapt step size automatically to the curvature of the function.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ll -conditioned function.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More precise parameter updates.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Less tuning needed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4649800" y="654150"/>
            <a:ext cx="4022400" cy="24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Disadvantages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Computing inverse Hessian explicitly is too expensive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Requires careful tuning.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Many saddle points can be problematic.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Requires handling Hessian approximations, regularization (damping), and numerical stability issues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92" name="Google Shape;92;p15"/>
          <p:cNvGrpSpPr/>
          <p:nvPr/>
        </p:nvGrpSpPr>
        <p:grpSpPr>
          <a:xfrm>
            <a:off x="496509" y="2703051"/>
            <a:ext cx="2915942" cy="1323075"/>
            <a:chOff x="496509" y="2470125"/>
            <a:chExt cx="2915942" cy="1323075"/>
          </a:xfrm>
        </p:grpSpPr>
        <p:pic>
          <p:nvPicPr>
            <p:cNvPr id="93" name="Google Shape;93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6509" y="2511850"/>
              <a:ext cx="2915942" cy="1281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" name="Google Shape;94;p15"/>
            <p:cNvSpPr/>
            <p:nvPr/>
          </p:nvSpPr>
          <p:spPr>
            <a:xfrm>
              <a:off x="1145225" y="2470125"/>
              <a:ext cx="1510800" cy="1929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ld Standard TT"/>
                <a:ea typeface="Old Standard TT"/>
                <a:cs typeface="Old Standard TT"/>
                <a:sym typeface="Old Standard T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