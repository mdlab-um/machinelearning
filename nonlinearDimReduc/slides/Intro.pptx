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87"/>
  </p:normalViewPr>
  <p:slideViewPr>
    <p:cSldViewPr snapToGrid="0">
      <p:cViewPr varScale="1">
        <p:scale>
          <a:sx n="112" d="100"/>
          <a:sy n="112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BE26-1603-9FFA-852C-2FB0C89D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4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400" b="1" baseline="0">
                <a:solidFill>
                  <a:srgbClr val="88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30FC6C-021D-3345-2601-B32B8256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6977844-7730-EC41-812D-BD39E127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8A568-9773-4346-A61D-1F71C39FB2A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CEB14378-3970-0942-645A-F7449611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0CF73F-F8A8-D0E1-9455-08B34FB6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1077-46C6-B84B-89B9-54BBC5BB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82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8BE3F-FDE8-F860-7874-7AB81E749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2B26-0DA0-A528-C9AF-6E2F47A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8A568-9773-4346-A61D-1F71C39FB2A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C981F-794A-C12D-9DFC-924522E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D4D45-CE9A-247E-8770-3221E1FD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1077-46C6-B84B-89B9-54BBC5BB3B5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14AF52A-6027-2954-26DD-DF88DDB1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6" y="107949"/>
            <a:ext cx="10515600" cy="781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426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0523D-6236-CC5D-1ADA-9C1667E9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001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63100-FCED-82E8-2A78-ABDDC679C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93925"/>
            <a:ext cx="5157787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F843F9-3C09-B685-4485-DACD1F1D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001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DA3D19-55BA-1FD9-E20D-B9C8F6C4A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9392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EEB4C-E633-1E1C-105D-2ED7E76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8A568-9773-4346-A61D-1F71C39FB2A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8E1CC-0082-431D-B1AE-E827280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782B4-A00B-4FD6-72C7-A0F0B644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1077-46C6-B84B-89B9-54BBC5BB3B5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B023FA78-5B4A-5024-AA6E-57E0F200B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6" y="107949"/>
            <a:ext cx="10515600" cy="781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7667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C4E53B-0CA2-E3C4-7CFD-2730C40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8A568-9773-4346-A61D-1F71C39FB2A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54A7D-6C49-F75D-97D6-5C1BE5E5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5D48D-DC63-0579-A48B-42B4465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1077-46C6-B84B-89B9-54BBC5BB3B5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533FC87-D4A8-2BE1-B1D7-1B6AFF0C5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6" y="107949"/>
            <a:ext cx="10515600" cy="781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8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014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8D109-2004-FF4C-790F-FAEFF180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31" y="13469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DED2E-9D38-6687-1F01-A713283E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8A568-9773-4346-A61D-1F71C39FB2A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5ED2E-7726-7ADA-B38D-0FB16F4A8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15601-C87F-7803-7A8C-724839C1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defRPr>
            </a:lvl1pPr>
          </a:lstStyle>
          <a:p>
            <a:fld id="{A9B51077-46C6-B84B-89B9-54BBC5BB3B5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DAC40E-B322-41BE-E402-B0DAEF70D67D}"/>
              </a:ext>
            </a:extLst>
          </p:cNvPr>
          <p:cNvSpPr/>
          <p:nvPr/>
        </p:nvSpPr>
        <p:spPr>
          <a:xfrm>
            <a:off x="0" y="1"/>
            <a:ext cx="12192000" cy="996949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Arial Black" panose="020B0A040201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375D5-89F6-D0CD-5766-EE0B132C5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20" y="256786"/>
            <a:ext cx="500159" cy="5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68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BC70-9FB5-C760-4F49-7B47ECFC3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Nonlinear dimension reduction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D1F70-1ED3-1309-640C-2CA507F9AB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Jian Huang</a:t>
            </a:r>
          </a:p>
          <a:p>
            <a:r>
              <a:rPr lang="en-US" dirty="0"/>
              <a:t>Chen lab</a:t>
            </a:r>
          </a:p>
          <a:p>
            <a:r>
              <a:rPr lang="en-US" dirty="0"/>
              <a:t>10/31/2025</a:t>
            </a:r>
          </a:p>
        </p:txBody>
      </p:sp>
    </p:spTree>
    <p:extLst>
      <p:ext uri="{BB962C8B-B14F-4D97-AF65-F5344CB8AC3E}">
        <p14:creationId xmlns:p14="http://schemas.microsoft.com/office/powerpoint/2010/main" val="419830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B3DB-5084-2CC0-A3E9-8FB59D2AF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with PCA: pros and cons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CB3DF2-684B-E93C-A7C1-362B3208B7B0}"/>
                  </a:ext>
                </a:extLst>
              </p:cNvPr>
              <p:cNvSpPr txBox="1"/>
              <p:nvPr/>
            </p:nvSpPr>
            <p:spPr>
              <a:xfrm>
                <a:off x="781050" y="1282600"/>
                <a:ext cx="10629900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Projection on a span set consisting of linear combinations of features via eigen-decomposition of covariance matrix</a:t>
                </a:r>
              </a:p>
              <a:p>
                <a:endParaRPr lang="en-US" dirty="0"/>
              </a:p>
              <a:p>
                <a:r>
                  <a:rPr lang="en-US" dirty="0"/>
                  <a:t>Pros:</a:t>
                </a:r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en-US" dirty="0"/>
                  <a:t>reduce dimensionality efficiently: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𝑠𝑎𝑚𝑝𝑙𝑒𝑠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𝑑𝑖𝑚𝑒𝑛𝑠𝑖𝑜𝑛𝑠</m:t>
                    </m:r>
                  </m:oMath>
                </a14:m>
                <a:endParaRPr lang="en-US" dirty="0"/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en-US" dirty="0"/>
                  <a:t>remove </a:t>
                </a:r>
                <a:r>
                  <a:rPr lang="en-US" dirty="0" err="1"/>
                  <a:t>colinearity</a:t>
                </a:r>
                <a:endParaRPr lang="en-US" dirty="0"/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en-US" dirty="0"/>
                  <a:t>maximizing data variance can help identify data structure (e.g., low dimensional visualization)</a:t>
                </a:r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en-US" dirty="0"/>
                  <a:t>remove noise (dimension with small variance)</a:t>
                </a:r>
              </a:p>
              <a:p>
                <a:endParaRPr lang="en-US" dirty="0"/>
              </a:p>
              <a:p>
                <a:r>
                  <a:rPr lang="en-US" dirty="0"/>
                  <a:t>Cons:</a:t>
                </a:r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en-US" dirty="0"/>
                  <a:t>Only captures </a:t>
                </a:r>
                <a:r>
                  <a:rPr lang="en-US" b="1" dirty="0"/>
                  <a:t>linear</a:t>
                </a:r>
                <a:r>
                  <a:rPr lang="en-US" dirty="0"/>
                  <a:t> correlations among variables</a:t>
                </a:r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en-US" dirty="0"/>
                  <a:t>Consider global data structure, </a:t>
                </a:r>
                <a:r>
                  <a:rPr lang="en-US" dirty="0">
                    <a:solidFill>
                      <a:srgbClr val="FF0000"/>
                    </a:solidFill>
                  </a:rPr>
                  <a:t>ignoring local structures</a:t>
                </a:r>
              </a:p>
              <a:p>
                <a:pPr marL="285750" indent="-285750">
                  <a:buFont typeface="Wingdings" pitchFamily="2" charset="2"/>
                  <a:buChar char="v"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Wingdings" pitchFamily="2" charset="2"/>
                  <a:buChar char="v"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What we want actually in reality? a dimension reduction that can preserve</a:t>
                </a:r>
              </a:p>
              <a:p>
                <a:pPr marL="342900" indent="-342900">
                  <a:buAutoNum type="arabicPeriod"/>
                </a:pPr>
                <a:r>
                  <a:rPr lang="en-US" b="1" dirty="0">
                    <a:solidFill>
                      <a:schemeClr val="accent6"/>
                    </a:solidFill>
                  </a:rPr>
                  <a:t>local structures </a:t>
                </a:r>
                <a:r>
                  <a:rPr lang="en-US" dirty="0"/>
                  <a:t>of data points: “preserve neighborhood around each data point”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/>
                    </a:solidFill>
                  </a:rPr>
                  <a:t>global structure</a:t>
                </a:r>
                <a:r>
                  <a:rPr lang="en-US" dirty="0"/>
                  <a:t>: “preserve relative positionings of neighborhoods”</a:t>
                </a:r>
              </a:p>
              <a:p>
                <a:pPr marL="342900" indent="-342900">
                  <a:buAutoNum type="arabicPeriod"/>
                </a:pP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CB3DF2-684B-E93C-A7C1-362B3208B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" y="1282600"/>
                <a:ext cx="10629900" cy="5078313"/>
              </a:xfrm>
              <a:prstGeom prst="rect">
                <a:avLst/>
              </a:prstGeom>
              <a:blipFill>
                <a:blip r:embed="rId2"/>
                <a:stretch>
                  <a:fillRect l="-477" t="-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236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20BF4-37EB-550B-1046-815D144F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Overview of some popular NL dimension reduction methods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811F9-D506-C267-B942-3747015FA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53446"/>
            <a:ext cx="7772400" cy="50012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CA59CA-CAF8-1261-8A28-36B412102D9D}"/>
              </a:ext>
            </a:extLst>
          </p:cNvPr>
          <p:cNvSpPr/>
          <p:nvPr/>
        </p:nvSpPr>
        <p:spPr>
          <a:xfrm>
            <a:off x="4583430" y="1588770"/>
            <a:ext cx="1417320" cy="1474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AD8CF5-519A-9F57-DFD8-7E0E8EC4405E}"/>
              </a:ext>
            </a:extLst>
          </p:cNvPr>
          <p:cNvSpPr/>
          <p:nvPr/>
        </p:nvSpPr>
        <p:spPr>
          <a:xfrm>
            <a:off x="4583430" y="3227070"/>
            <a:ext cx="1417320" cy="16878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22B20-F0BC-188F-47EE-037A3B331889}"/>
              </a:ext>
            </a:extLst>
          </p:cNvPr>
          <p:cNvSpPr/>
          <p:nvPr/>
        </p:nvSpPr>
        <p:spPr>
          <a:xfrm>
            <a:off x="4583430" y="5179346"/>
            <a:ext cx="1417320" cy="6385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3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9EF75-BB10-8A87-4A38-425FA4CC8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B7E6-B567-0D0E-FDF6-4058572B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principle behind graph-based methods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C5BB2E-06BA-A25F-E875-9E8E620AB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72400" y="1129383"/>
            <a:ext cx="7772400" cy="50012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AA67A-E919-6E68-65B6-B00339570D5E}"/>
              </a:ext>
            </a:extLst>
          </p:cNvPr>
          <p:cNvSpPr/>
          <p:nvPr/>
        </p:nvSpPr>
        <p:spPr>
          <a:xfrm>
            <a:off x="-5398770" y="1564707"/>
            <a:ext cx="1417320" cy="1474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C0181D-48AD-40D4-C2DF-122C02E7EA0E}"/>
              </a:ext>
            </a:extLst>
          </p:cNvPr>
          <p:cNvSpPr/>
          <p:nvPr/>
        </p:nvSpPr>
        <p:spPr>
          <a:xfrm>
            <a:off x="-5398770" y="3203007"/>
            <a:ext cx="1417320" cy="16878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0731DE-C741-D867-6630-53EA91C2AAC8}"/>
              </a:ext>
            </a:extLst>
          </p:cNvPr>
          <p:cNvSpPr/>
          <p:nvPr/>
        </p:nvSpPr>
        <p:spPr>
          <a:xfrm>
            <a:off x="-5398770" y="5155283"/>
            <a:ext cx="1417320" cy="6385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D23B65-4F06-EA7B-2784-7440F4D911F8}"/>
              </a:ext>
            </a:extLst>
          </p:cNvPr>
          <p:cNvSpPr txBox="1">
            <a:spLocks/>
          </p:cNvSpPr>
          <p:nvPr/>
        </p:nvSpPr>
        <p:spPr>
          <a:xfrm>
            <a:off x="614266" y="-755017"/>
            <a:ext cx="10515600" cy="781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i="0" kern="1200" baseline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/>
              <a:t>Overview of some popular NL dimension reduction methods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BEB6D-9039-8BFA-B9CC-D0978EF336E9}"/>
              </a:ext>
            </a:extLst>
          </p:cNvPr>
          <p:cNvSpPr txBox="1"/>
          <p:nvPr/>
        </p:nvSpPr>
        <p:spPr>
          <a:xfrm>
            <a:off x="614266" y="1276348"/>
            <a:ext cx="11398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idea: data points in high-D that are close to each other should also be close in the low-D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step 1</a:t>
            </a:r>
            <a:r>
              <a:rPr lang="en-US" dirty="0"/>
              <a:t>: define </a:t>
            </a:r>
            <a:r>
              <a:rPr lang="en-US" u="sng" dirty="0">
                <a:solidFill>
                  <a:schemeClr val="accent6"/>
                </a:solidFill>
              </a:rPr>
              <a:t>local relationships </a:t>
            </a:r>
            <a:r>
              <a:rPr lang="en-US" dirty="0"/>
              <a:t>between data points, for example, Euclidean distance</a:t>
            </a:r>
          </a:p>
          <a:p>
            <a:r>
              <a:rPr lang="en-US" b="1" dirty="0"/>
              <a:t>step 2</a:t>
            </a:r>
            <a:r>
              <a:rPr lang="en-US" dirty="0"/>
              <a:t>: find a low-D representation that preserves </a:t>
            </a:r>
            <a:r>
              <a:rPr lang="en-US" u="sng" dirty="0">
                <a:solidFill>
                  <a:schemeClr val="accent6"/>
                </a:solidFill>
              </a:rPr>
              <a:t>those “neighborhood” relationship </a:t>
            </a:r>
            <a:r>
              <a:rPr lang="en-US" dirty="0"/>
              <a:t>as faithful as possible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A76E20-6339-ABCB-C6C1-4BD500933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66" y="3039177"/>
            <a:ext cx="5293239" cy="246515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96E0269-2345-7FE3-4FD6-ECBFE9DF1553}"/>
              </a:ext>
            </a:extLst>
          </p:cNvPr>
          <p:cNvGrpSpPr/>
          <p:nvPr/>
        </p:nvGrpSpPr>
        <p:grpSpPr>
          <a:xfrm>
            <a:off x="6450893" y="2828835"/>
            <a:ext cx="5293239" cy="3210428"/>
            <a:chOff x="6450893" y="2828835"/>
            <a:chExt cx="5293239" cy="32104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B56EA4-9049-EC21-63B0-D699866B8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61250" y="4005723"/>
              <a:ext cx="2565400" cy="647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8A6610D-24FA-4AB5-EBD4-C228E79C5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61250" y="5328063"/>
              <a:ext cx="2755900" cy="7112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4FC3FCF-E845-FD52-366A-66BDBD27E333}"/>
                </a:ext>
              </a:extLst>
            </p:cNvPr>
            <p:cNvSpPr txBox="1"/>
            <p:nvPr/>
          </p:nvSpPr>
          <p:spPr>
            <a:xfrm>
              <a:off x="6450893" y="2828835"/>
              <a:ext cx="529323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in ML language</a:t>
              </a:r>
              <a:r>
                <a:rPr lang="en-US" dirty="0"/>
                <a:t>:</a:t>
              </a:r>
            </a:p>
            <a:p>
              <a:pPr marL="342900" indent="-342900">
                <a:buAutoNum type="arabicPeriod"/>
              </a:pPr>
              <a:r>
                <a:rPr lang="en-US" dirty="0"/>
                <a:t>define a Loss that measures how different the local relationships (distances) are in high-D and the low-D reps</a:t>
              </a:r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r>
                <a:rPr lang="en-US" dirty="0"/>
                <a:t>Minimize the Loss by improve low-D rep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2112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B72E9-7DCF-DAEB-8099-3CE4057FA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B1840-CC02-51F9-69B7-7DA915098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SNE, t-SNE and UMAP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8FEFE-5AF4-7052-8A3F-A27698997813}"/>
              </a:ext>
            </a:extLst>
          </p:cNvPr>
          <p:cNvSpPr txBox="1"/>
          <p:nvPr/>
        </p:nvSpPr>
        <p:spPr>
          <a:xfrm>
            <a:off x="-8481608" y="-1831886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idea: data points in high-D that are close to each other should also be close in the low-D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step 1</a:t>
            </a:r>
            <a:r>
              <a:rPr lang="en-US" dirty="0"/>
              <a:t>: define local relationships between data points, for example, Euclidean distance</a:t>
            </a:r>
          </a:p>
          <a:p>
            <a:r>
              <a:rPr lang="en-US" b="1" dirty="0"/>
              <a:t>step 2</a:t>
            </a:r>
            <a:r>
              <a:rPr lang="en-US" dirty="0"/>
              <a:t>: find a low-D representation that preserves those relationship as faithful as possible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A093DC-611B-145E-878E-AE2A404C9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3239" y="7002379"/>
            <a:ext cx="5293239" cy="246515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794BA14-43B4-373A-A9E0-4098C10E476C}"/>
              </a:ext>
            </a:extLst>
          </p:cNvPr>
          <p:cNvGrpSpPr/>
          <p:nvPr/>
        </p:nvGrpSpPr>
        <p:grpSpPr>
          <a:xfrm>
            <a:off x="12466682" y="6858000"/>
            <a:ext cx="5293239" cy="3210428"/>
            <a:chOff x="6450893" y="2828835"/>
            <a:chExt cx="5293239" cy="32104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0D338FF-1F56-15E1-6946-CC22861C4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1250" y="4005723"/>
              <a:ext cx="2565400" cy="647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395E03-9EFA-6693-6D17-0EB4A16F5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61250" y="5328063"/>
              <a:ext cx="2755900" cy="7112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9E0217-B1CE-DBB1-7E9A-69FC72730005}"/>
                </a:ext>
              </a:extLst>
            </p:cNvPr>
            <p:cNvSpPr txBox="1"/>
            <p:nvPr/>
          </p:nvSpPr>
          <p:spPr>
            <a:xfrm>
              <a:off x="6450893" y="2828835"/>
              <a:ext cx="529323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in ML language</a:t>
              </a:r>
              <a:r>
                <a:rPr lang="en-US" dirty="0"/>
                <a:t>:</a:t>
              </a:r>
            </a:p>
            <a:p>
              <a:pPr marL="342900" indent="-342900">
                <a:buAutoNum type="arabicPeriod"/>
              </a:pPr>
              <a:r>
                <a:rPr lang="en-US" dirty="0"/>
                <a:t>define a Loss that measures how difference the local relationships (distances) are in high-D and the low-D reps</a:t>
              </a:r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r>
                <a:rPr lang="en-US" dirty="0"/>
                <a:t>Minimize the Loss by improve low-D rep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BED41D5-2245-BC47-EE23-BD2EFD8FA3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4388"/>
          <a:stretch>
            <a:fillRect/>
          </a:stretch>
        </p:blipFill>
        <p:spPr>
          <a:xfrm>
            <a:off x="1430902" y="1376147"/>
            <a:ext cx="9330195" cy="310441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143BD5-978C-3BE9-8302-FB2B776F2F5D}"/>
              </a:ext>
            </a:extLst>
          </p:cNvPr>
          <p:cNvCxnSpPr/>
          <p:nvPr/>
        </p:nvCxnSpPr>
        <p:spPr>
          <a:xfrm>
            <a:off x="3017520" y="2034540"/>
            <a:ext cx="184023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3D4B6A-9DD0-6A65-451C-B84E5F0C9D44}"/>
              </a:ext>
            </a:extLst>
          </p:cNvPr>
          <p:cNvCxnSpPr/>
          <p:nvPr/>
        </p:nvCxnSpPr>
        <p:spPr>
          <a:xfrm>
            <a:off x="3017520" y="3158490"/>
            <a:ext cx="184023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924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518A-B3F7-3EA6-E3F7-24268F32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Kullback-Leibler (KL) divergence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1EC8B3-EC95-B7F4-34B7-56EC50302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866" y="2386556"/>
            <a:ext cx="7772400" cy="3108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0BAE35-6B1D-A7E1-ED4F-EF78B1379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866" y="1307578"/>
            <a:ext cx="3848100" cy="81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F2A5D2-6F72-9C36-E3A4-5EDEFED25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966" y="1155178"/>
            <a:ext cx="37973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31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A5266-BD82-FF92-846B-5FBE641C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Equivalence between KL and cross-entropy Loss for ML algorithms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3ABFA1-6D27-41F4-3482-27530E5A4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771" y="1289405"/>
            <a:ext cx="6000458" cy="16172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1A5AF5-D541-E6FA-1264-D87974040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735" y="2906612"/>
            <a:ext cx="5588662" cy="2127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C8327E-AD57-3EE3-5EDB-3F3F35323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735" y="4799019"/>
            <a:ext cx="5559248" cy="20589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B48A61-A372-2845-CCB2-7CD4564539C7}"/>
              </a:ext>
            </a:extLst>
          </p:cNvPr>
          <p:cNvSpPr txBox="1"/>
          <p:nvPr/>
        </p:nvSpPr>
        <p:spPr>
          <a:xfrm>
            <a:off x="9096229" y="4733473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cross-entropy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F0436E-D447-FB8D-07A1-EA5ECC562F5D}"/>
              </a:ext>
            </a:extLst>
          </p:cNvPr>
          <p:cNvCxnSpPr>
            <a:cxnSpLocks/>
          </p:cNvCxnSpPr>
          <p:nvPr/>
        </p:nvCxnSpPr>
        <p:spPr>
          <a:xfrm flipH="1">
            <a:off x="8355330" y="5034225"/>
            <a:ext cx="740899" cy="3378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4CBDD4-424A-6369-869A-335893829F1D}"/>
              </a:ext>
            </a:extLst>
          </p:cNvPr>
          <p:cNvCxnSpPr>
            <a:cxnSpLocks/>
          </p:cNvCxnSpPr>
          <p:nvPr/>
        </p:nvCxnSpPr>
        <p:spPr>
          <a:xfrm flipH="1">
            <a:off x="7184599" y="4171950"/>
            <a:ext cx="1756097" cy="1061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432B7F3-60F8-A3D5-7407-836BBE1E8C3B}"/>
              </a:ext>
            </a:extLst>
          </p:cNvPr>
          <p:cNvSpPr txBox="1"/>
          <p:nvPr/>
        </p:nvSpPr>
        <p:spPr>
          <a:xfrm>
            <a:off x="8940696" y="3940898"/>
            <a:ext cx="2104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Shannon’s entropy</a:t>
            </a:r>
          </a:p>
          <a:p>
            <a:pPr algn="ctr"/>
            <a:r>
              <a:rPr lang="en-US" dirty="0"/>
              <a:t>“Unpredictability”</a:t>
            </a:r>
          </a:p>
        </p:txBody>
      </p:sp>
    </p:spTree>
    <p:extLst>
      <p:ext uri="{BB962C8B-B14F-4D97-AF65-F5344CB8AC3E}">
        <p14:creationId xmlns:p14="http://schemas.microsoft.com/office/powerpoint/2010/main" val="339357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3DEC-0725-6E16-CD65-C2C09F3B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D32032-8639-4514-7379-1D01ECE1E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34" y="107949"/>
            <a:ext cx="9736835" cy="649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0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5350-C1A1-4267-67CC-5B22868B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 kernelization in SNE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B179C2-E9C1-2C83-1C9D-62CF8ADF7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676" y="1113512"/>
            <a:ext cx="7970647" cy="513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41275"/>
      </p:ext>
    </p:extLst>
  </p:cSld>
  <p:clrMapOvr>
    <a:masterClrMapping/>
  </p:clrMapOvr>
</p:sld>
</file>

<file path=ppt/theme/theme1.xml><?xml version="1.0" encoding="utf-8"?>
<a:theme xmlns:a="http://schemas.openxmlformats.org/drawingml/2006/main" name="jian_pers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ian_personal" id="{04679213-D5B2-2F49-B0E3-F9B6D4410D1F}" vid="{F4DEF890-C6AF-A44E-92B4-2C5EBED00DC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jian_personal</Template>
  <TotalTime>183</TotalTime>
  <Words>343</Words>
  <Application>Microsoft Macintosh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Cambria Math</vt:lpstr>
      <vt:lpstr>Wingdings</vt:lpstr>
      <vt:lpstr>jian_personal</vt:lpstr>
      <vt:lpstr>Nonlinear dimension reduction</vt:lpstr>
      <vt:lpstr>Starting with PCA: pros and cons</vt:lpstr>
      <vt:lpstr>Overview of some popular NL dimension reduction methods</vt:lpstr>
      <vt:lpstr>Basic principle behind graph-based methods</vt:lpstr>
      <vt:lpstr>SNE, t-SNE and UMAP</vt:lpstr>
      <vt:lpstr>Kullback-Leibler (KL) divergence</vt:lpstr>
      <vt:lpstr>Equivalence between KL and cross-entropy Loss for ML algorithms</vt:lpstr>
      <vt:lpstr>PowerPoint Presentation</vt:lpstr>
      <vt:lpstr>RBF kernelization in SNE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JianHuang</dc:creator>
  <cp:lastModifiedBy>JianHuang</cp:lastModifiedBy>
  <cp:revision>19</cp:revision>
  <dcterms:created xsi:type="dcterms:W3CDTF">2025-10-18T22:57:36Z</dcterms:created>
  <dcterms:modified xsi:type="dcterms:W3CDTF">2025-10-31T18:33:08Z</dcterms:modified>
</cp:coreProperties>
</file>